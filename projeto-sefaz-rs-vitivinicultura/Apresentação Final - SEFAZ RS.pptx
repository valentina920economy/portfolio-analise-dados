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9"/>
  </p:notesMasterIdLst>
  <p:sldIdLst>
    <p:sldId id="257" r:id="rId3"/>
    <p:sldId id="274" r:id="rId4"/>
    <p:sldId id="271" r:id="rId5"/>
    <p:sldId id="258" r:id="rId6"/>
    <p:sldId id="259" r:id="rId7"/>
    <p:sldId id="272" r:id="rId8"/>
    <p:sldId id="273" r:id="rId9"/>
    <p:sldId id="260" r:id="rId10"/>
    <p:sldId id="261" r:id="rId11"/>
    <p:sldId id="262" r:id="rId12"/>
    <p:sldId id="277" r:id="rId13"/>
    <p:sldId id="278" r:id="rId14"/>
    <p:sldId id="264" r:id="rId15"/>
    <p:sldId id="263" r:id="rId16"/>
    <p:sldId id="265" r:id="rId17"/>
    <p:sldId id="266" r:id="rId1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ção" id="{7C060091-95C3-4382-A29C-44CC7F9D4A55}">
          <p14:sldIdLst>
            <p14:sldId id="257"/>
            <p14:sldId id="274"/>
          </p14:sldIdLst>
        </p14:section>
        <p14:section name="Metodologia" id="{10C43489-6F84-4726-887C-203EDA499D12}">
          <p14:sldIdLst>
            <p14:sldId id="271"/>
          </p14:sldIdLst>
        </p14:section>
        <p14:section name="Cadeia" id="{507D1803-B880-4A54-82F1-AFBC21FD9496}">
          <p14:sldIdLst>
            <p14:sldId id="258"/>
          </p14:sldIdLst>
        </p14:section>
        <p14:section name="Matéria Prima" id="{C410FCE9-8FC3-40EC-B5F0-371BF5B15711}">
          <p14:sldIdLst>
            <p14:sldId id="259"/>
            <p14:sldId id="272"/>
            <p14:sldId id="273"/>
            <p14:sldId id="260"/>
          </p14:sldIdLst>
        </p14:section>
        <p14:section name="Exportação" id="{C056DA9B-BFD8-4A5E-8706-2D6E10DB4E97}">
          <p14:sldIdLst>
            <p14:sldId id="261"/>
          </p14:sldIdLst>
        </p14:section>
        <p14:section name="Importação" id="{FD5915B3-8D93-4328-B71C-D2F7FEDDBEC6}">
          <p14:sldIdLst>
            <p14:sldId id="262"/>
            <p14:sldId id="277"/>
            <p14:sldId id="278"/>
          </p14:sldIdLst>
        </p14:section>
        <p14:section name="Impactos Exóg." id="{4D8478E5-7FB4-4689-A334-7B5B64F82CE0}">
          <p14:sldIdLst>
            <p14:sldId id="264"/>
          </p14:sldIdLst>
        </p14:section>
        <p14:section name="ICMS e Arrecad." id="{9628C5F5-17B4-4FED-AC38-A2251B29B101}">
          <p14:sldIdLst>
            <p14:sldId id="263"/>
          </p14:sldIdLst>
        </p14:section>
        <p14:section name="Previsões e Posicionamento" id="{72276AE4-55B5-4BE8-BDF3-D69C6F2123BD}">
          <p14:sldIdLst>
            <p14:sldId id="265"/>
          </p14:sldIdLst>
        </p14:section>
        <p14:section name="Conclusão" id="{B8F7233A-30DF-40AE-8AAA-2A920E9C850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entina rodrigues" userId="c46f6ec13d5dc67d" providerId="LiveId" clId="{5BF4A1B4-7054-4897-B742-C8A946A76EA8}"/>
    <pc:docChg chg="modSld">
      <pc:chgData name="valentina rodrigues" userId="c46f6ec13d5dc67d" providerId="LiveId" clId="{5BF4A1B4-7054-4897-B742-C8A946A76EA8}" dt="2026-06-25T19:27:22.847" v="0" actId="729"/>
      <pc:docMkLst>
        <pc:docMk/>
      </pc:docMkLst>
      <pc:sldChg chg="mod modShow">
        <pc:chgData name="valentina rodrigues" userId="c46f6ec13d5dc67d" providerId="LiveId" clId="{5BF4A1B4-7054-4897-B742-C8A946A76EA8}" dt="2026-06-25T19:27:22.847" v="0" actId="729"/>
        <pc:sldMkLst>
          <pc:docMk/>
          <pc:sldMk cId="1858010905" sldId="25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file:///C:\Users\enzo.carbonell\Desktop\Enzo\Faculdade\Cadeiras\ML\GRAU%20B\An&#225;lise%20Setorial%20Uva%20&amp;%20Vinho\An&#225;lise%20Vitinicola.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c:style val="2"/>
  <c:chart>
    <c:title>
      <c:tx>
        <c:rich>
          <a:bodyPr/>
          <a:lstStyle/>
          <a:p>
            <a:pPr>
              <a:defRPr sz="1200" b="0" i="0" u="none" strike="noStrike">
                <a:solidFill>
                  <a:srgbClr val="6D1E3A"/>
                </a:solidFill>
                <a:latin typeface="Arial"/>
              </a:defRPr>
            </a:pPr>
            <a:r>
              <a:rPr lang="pt-BR" sz="1200" b="0" i="0" u="none" strike="noStrike">
                <a:solidFill>
                  <a:srgbClr val="6D1E3A"/>
                </a:solidFill>
                <a:latin typeface="Arial"/>
              </a:rPr>
              <a:t>Produção de Uva RS (toneladas)</a:t>
            </a:r>
          </a:p>
        </c:rich>
      </c:tx>
      <c:overlay val="0"/>
    </c:title>
    <c:autoTitleDeleted val="0"/>
    <c:plotArea>
      <c:layout/>
      <c:barChart>
        <c:barDir val="col"/>
        <c:grouping val="stacked"/>
        <c:varyColors val="0"/>
        <c:ser>
          <c:idx val="0"/>
          <c:order val="0"/>
          <c:tx>
            <c:strRef>
              <c:f>Sheet1!$B$1</c:f>
              <c:strCache>
                <c:ptCount val="1"/>
                <c:pt idx="0">
                  <c:v>Serra Gaúcha</c:v>
                </c:pt>
              </c:strCache>
            </c:strRef>
          </c:tx>
          <c:spPr>
            <a:solidFill>
              <a:srgbClr val="9B2E52"/>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597983</c:v>
                </c:pt>
                <c:pt idx="1">
                  <c:v>743042</c:v>
                </c:pt>
                <c:pt idx="2">
                  <c:v>557837</c:v>
                </c:pt>
              </c:numCache>
            </c:numRef>
          </c:val>
          <c:extLst>
            <c:ext xmlns:c16="http://schemas.microsoft.com/office/drawing/2014/chart" uri="{C3380CC4-5D6E-409C-BE32-E72D297353CC}">
              <c16:uniqueId val="{00000000-1B78-4F37-B08F-B6990BE70D4E}"/>
            </c:ext>
          </c:extLst>
        </c:ser>
        <c:ser>
          <c:idx val="1"/>
          <c:order val="1"/>
          <c:tx>
            <c:strRef>
              <c:f>Sheet1!$C$1</c:f>
              <c:strCache>
                <c:ptCount val="1"/>
                <c:pt idx="0">
                  <c:v>Outros Municípios</c:v>
                </c:pt>
              </c:strCache>
            </c:strRef>
          </c:tx>
          <c:spPr>
            <a:solidFill>
              <a:srgbClr val="C9768A"/>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Sheet1!$C$2:$C$4</c:f>
              <c:numCache>
                <c:formatCode>General</c:formatCode>
                <c:ptCount val="3"/>
                <c:pt idx="0">
                  <c:v>136999</c:v>
                </c:pt>
                <c:pt idx="1">
                  <c:v>161752</c:v>
                </c:pt>
                <c:pt idx="2">
                  <c:v>128814</c:v>
                </c:pt>
              </c:numCache>
            </c:numRef>
          </c:val>
          <c:extLst>
            <c:ext xmlns:c16="http://schemas.microsoft.com/office/drawing/2014/chart" uri="{C3380CC4-5D6E-409C-BE32-E72D297353CC}">
              <c16:uniqueId val="{00000001-1B78-4F37-B08F-B6990BE70D4E}"/>
            </c:ext>
          </c:extLst>
        </c:ser>
        <c:dLbls>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4"/>
        <c:crosses val="autoZero"/>
        <c:crossBetween val="between"/>
      </c:valAx>
      <c:spPr>
        <a:noFill/>
        <a:ln>
          <a:noFill/>
        </a:ln>
        <a:effectLst/>
      </c:spPr>
    </c:plotArea>
    <c:legend>
      <c:legendPos val="b"/>
      <c:overlay val="0"/>
      <c:txPr>
        <a:bodyPr/>
        <a:lstStyle/>
        <a:p>
          <a:pPr>
            <a:defRPr sz="1000"/>
          </a:pPr>
          <a:endParaRPr lang="pt-BR"/>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pt-BR" sz="1200" b="0" i="0" u="none" strike="noStrike" kern="1200" spc="0" baseline="0">
                <a:solidFill>
                  <a:srgbClr val="6D1E3A"/>
                </a:solidFill>
                <a:latin typeface="Arial"/>
                <a:ea typeface="+mn-ea"/>
                <a:cs typeface="+mn-cs"/>
              </a:defRPr>
            </a:pPr>
            <a:r>
              <a:rPr lang="pt-BR" sz="1200" b="0" i="0" u="none" strike="noStrike" kern="1200" baseline="0">
                <a:solidFill>
                  <a:srgbClr val="6D1E3A"/>
                </a:solidFill>
                <a:latin typeface="Arial"/>
                <a:ea typeface="+mn-ea"/>
                <a:cs typeface="+mn-cs"/>
              </a:rPr>
              <a:t>Produção de Uva no Brasil</a:t>
            </a:r>
          </a:p>
        </c:rich>
      </c:tx>
      <c:overlay val="0"/>
      <c:spPr>
        <a:noFill/>
        <a:ln>
          <a:noFill/>
        </a:ln>
        <a:effectLst/>
      </c:spPr>
      <c:txPr>
        <a:bodyPr rot="0" spcFirstLastPara="1" vertOverflow="ellipsis" vert="horz" wrap="square" anchor="ctr" anchorCtr="1"/>
        <a:lstStyle/>
        <a:p>
          <a:pPr algn="ctr" rtl="0">
            <a:defRPr lang="pt-BR" sz="1200" b="0" i="0" u="none" strike="noStrike" kern="1200" spc="0" baseline="0">
              <a:solidFill>
                <a:srgbClr val="6D1E3A"/>
              </a:solidFill>
              <a:latin typeface="Arial"/>
              <a:ea typeface="+mn-ea"/>
              <a:cs typeface="+mn-cs"/>
            </a:defRPr>
          </a:pPr>
          <a:endParaRPr lang="pt-BR"/>
        </a:p>
      </c:txPr>
    </c:title>
    <c:autoTitleDeleted val="0"/>
    <c:plotArea>
      <c:layout>
        <c:manualLayout>
          <c:layoutTarget val="inner"/>
          <c:xMode val="edge"/>
          <c:yMode val="edge"/>
          <c:x val="0.10285941148112789"/>
          <c:y val="0.12047095495590424"/>
          <c:w val="0.87325712402501199"/>
          <c:h val="0.78824503092892284"/>
        </c:manualLayout>
      </c:layout>
      <c:lineChart>
        <c:grouping val="standard"/>
        <c:varyColors val="0"/>
        <c:ser>
          <c:idx val="0"/>
          <c:order val="0"/>
          <c:tx>
            <c:strRef>
              <c:f>Produção!$M$14</c:f>
              <c:strCache>
                <c:ptCount val="1"/>
                <c:pt idx="0">
                  <c:v>Pernambuco</c:v>
                </c:pt>
              </c:strCache>
            </c:strRef>
          </c:tx>
          <c:spPr>
            <a:ln w="28575" cap="rnd">
              <a:solidFill>
                <a:srgbClr val="C8963C"/>
              </a:solidFill>
              <a:round/>
            </a:ln>
            <a:effectLst/>
          </c:spPr>
          <c:marker>
            <c:symbol val="none"/>
          </c:marker>
          <c:cat>
            <c:numRef>
              <c:f>Produção!$N$13:$P$13</c:f>
              <c:numCache>
                <c:formatCode>General</c:formatCode>
                <c:ptCount val="3"/>
                <c:pt idx="0">
                  <c:v>2022</c:v>
                </c:pt>
                <c:pt idx="1">
                  <c:v>2023</c:v>
                </c:pt>
                <c:pt idx="2">
                  <c:v>2024</c:v>
                </c:pt>
              </c:numCache>
            </c:numRef>
          </c:cat>
          <c:val>
            <c:numRef>
              <c:f>Produção!$N$14:$P$14</c:f>
              <c:numCache>
                <c:formatCode>#,##0</c:formatCode>
                <c:ptCount val="3"/>
                <c:pt idx="0">
                  <c:v>338206</c:v>
                </c:pt>
                <c:pt idx="1">
                  <c:v>573894</c:v>
                </c:pt>
                <c:pt idx="2">
                  <c:v>755266</c:v>
                </c:pt>
              </c:numCache>
            </c:numRef>
          </c:val>
          <c:smooth val="0"/>
          <c:extLst>
            <c:ext xmlns:c16="http://schemas.microsoft.com/office/drawing/2014/chart" uri="{C3380CC4-5D6E-409C-BE32-E72D297353CC}">
              <c16:uniqueId val="{00000000-5DCF-4E11-BEAC-C33F0EA14999}"/>
            </c:ext>
          </c:extLst>
        </c:ser>
        <c:ser>
          <c:idx val="1"/>
          <c:order val="1"/>
          <c:tx>
            <c:strRef>
              <c:f>Produção!$M$15</c:f>
              <c:strCache>
                <c:ptCount val="1"/>
                <c:pt idx="0">
                  <c:v>Rio Grande do Sul</c:v>
                </c:pt>
              </c:strCache>
            </c:strRef>
          </c:tx>
          <c:spPr>
            <a:ln w="28575" cap="rnd">
              <a:solidFill>
                <a:srgbClr val="6D1E3A"/>
              </a:solidFill>
              <a:round/>
            </a:ln>
            <a:effectLst/>
          </c:spPr>
          <c:marker>
            <c:symbol val="none"/>
          </c:marker>
          <c:cat>
            <c:numRef>
              <c:f>Produção!$N$13:$P$13</c:f>
              <c:numCache>
                <c:formatCode>General</c:formatCode>
                <c:ptCount val="3"/>
                <c:pt idx="0">
                  <c:v>2022</c:v>
                </c:pt>
                <c:pt idx="1">
                  <c:v>2023</c:v>
                </c:pt>
                <c:pt idx="2">
                  <c:v>2024</c:v>
                </c:pt>
              </c:numCache>
            </c:numRef>
          </c:cat>
          <c:val>
            <c:numRef>
              <c:f>Produção!$N$15:$P$15</c:f>
              <c:numCache>
                <c:formatCode>#,##0</c:formatCode>
                <c:ptCount val="3"/>
                <c:pt idx="0">
                  <c:v>734982</c:v>
                </c:pt>
                <c:pt idx="1">
                  <c:v>904794</c:v>
                </c:pt>
                <c:pt idx="2">
                  <c:v>686651</c:v>
                </c:pt>
              </c:numCache>
            </c:numRef>
          </c:val>
          <c:smooth val="0"/>
          <c:extLst>
            <c:ext xmlns:c16="http://schemas.microsoft.com/office/drawing/2014/chart" uri="{C3380CC4-5D6E-409C-BE32-E72D297353CC}">
              <c16:uniqueId val="{00000001-5DCF-4E11-BEAC-C33F0EA14999}"/>
            </c:ext>
          </c:extLst>
        </c:ser>
        <c:ser>
          <c:idx val="2"/>
          <c:order val="2"/>
          <c:tx>
            <c:strRef>
              <c:f>Produção!$M$16</c:f>
              <c:strCache>
                <c:ptCount val="1"/>
                <c:pt idx="0">
                  <c:v>Serra</c:v>
                </c:pt>
              </c:strCache>
            </c:strRef>
          </c:tx>
          <c:spPr>
            <a:ln w="28575" cap="rnd">
              <a:solidFill>
                <a:srgbClr val="C9768A"/>
              </a:solidFill>
              <a:round/>
            </a:ln>
            <a:effectLst/>
          </c:spPr>
          <c:marker>
            <c:symbol val="none"/>
          </c:marker>
          <c:cat>
            <c:numRef>
              <c:f>Produção!$N$13:$P$13</c:f>
              <c:numCache>
                <c:formatCode>General</c:formatCode>
                <c:ptCount val="3"/>
                <c:pt idx="0">
                  <c:v>2022</c:v>
                </c:pt>
                <c:pt idx="1">
                  <c:v>2023</c:v>
                </c:pt>
                <c:pt idx="2">
                  <c:v>2024</c:v>
                </c:pt>
              </c:numCache>
            </c:numRef>
          </c:cat>
          <c:val>
            <c:numRef>
              <c:f>Produção!$N$16:$P$16</c:f>
              <c:numCache>
                <c:formatCode>#,##0</c:formatCode>
                <c:ptCount val="3"/>
                <c:pt idx="0">
                  <c:v>597983</c:v>
                </c:pt>
                <c:pt idx="1">
                  <c:v>743042</c:v>
                </c:pt>
                <c:pt idx="2">
                  <c:v>557837</c:v>
                </c:pt>
              </c:numCache>
            </c:numRef>
          </c:val>
          <c:smooth val="0"/>
          <c:extLst>
            <c:ext xmlns:c16="http://schemas.microsoft.com/office/drawing/2014/chart" uri="{C3380CC4-5D6E-409C-BE32-E72D297353CC}">
              <c16:uniqueId val="{00000002-5DCF-4E11-BEAC-C33F0EA14999}"/>
            </c:ext>
          </c:extLst>
        </c:ser>
        <c:dLbls>
          <c:showLegendKey val="0"/>
          <c:showVal val="0"/>
          <c:showCatName val="0"/>
          <c:showSerName val="0"/>
          <c:showPercent val="0"/>
          <c:showBubbleSize val="0"/>
        </c:dLbls>
        <c:smooth val="0"/>
        <c:axId val="989806095"/>
        <c:axId val="989803215"/>
      </c:lineChart>
      <c:catAx>
        <c:axId val="989806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200" b="0" i="0" u="none" strike="noStrike" kern="1200" baseline="0">
                <a:solidFill>
                  <a:srgbClr val="64748B"/>
                </a:solidFill>
                <a:latin typeface="Arial"/>
                <a:ea typeface="+mn-ea"/>
                <a:cs typeface="+mn-cs"/>
              </a:defRPr>
            </a:pPr>
            <a:endParaRPr lang="pt-BR"/>
          </a:p>
        </c:txPr>
        <c:crossAx val="989803215"/>
        <c:crosses val="autoZero"/>
        <c:auto val="1"/>
        <c:lblAlgn val="ctr"/>
        <c:lblOffset val="100"/>
        <c:noMultiLvlLbl val="0"/>
      </c:catAx>
      <c:valAx>
        <c:axId val="98980321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200" b="0" i="0" u="none" strike="noStrike" kern="1200" baseline="0">
                <a:solidFill>
                  <a:srgbClr val="64748B"/>
                </a:solidFill>
                <a:latin typeface="Arial"/>
                <a:ea typeface="+mn-ea"/>
                <a:cs typeface="+mn-cs"/>
              </a:defRPr>
            </a:pPr>
            <a:endParaRPr lang="pt-BR"/>
          </a:p>
        </c:txPr>
        <c:crossAx val="989806095"/>
        <c:crosses val="autoZero"/>
        <c:crossBetween val="between"/>
      </c:valAx>
      <c:spPr>
        <a:noFill/>
        <a:ln>
          <a:noFill/>
        </a:ln>
        <a:effectLst/>
      </c:spPr>
    </c:plotArea>
    <c:legend>
      <c:legendPos val="b"/>
      <c:layout>
        <c:manualLayout>
          <c:xMode val="edge"/>
          <c:yMode val="edge"/>
          <c:x val="0.71530682127848777"/>
          <c:y val="0.66329291790597233"/>
          <c:w val="0.2664909714154583"/>
          <c:h val="0.1610381526324019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solidFill>
      <a:schemeClr val="bg1"/>
    </a:solidFill>
    <a:ln>
      <a:noFill/>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c:style val="2"/>
  <c:chart>
    <c:title>
      <c:tx>
        <c:rich>
          <a:bodyPr/>
          <a:lstStyle/>
          <a:p>
            <a:pPr>
              <a:defRPr sz="1200" b="0" i="0" u="none" strike="noStrike">
                <a:solidFill>
                  <a:srgbClr val="6D1E3A"/>
                </a:solidFill>
                <a:latin typeface="Arial"/>
              </a:defRPr>
            </a:pPr>
            <a:r>
              <a:rPr lang="pt-BR" sz="1200" b="0" i="0" u="none" strike="noStrike">
                <a:solidFill>
                  <a:srgbClr val="6D1E3A"/>
                </a:solidFill>
                <a:latin typeface="Arial"/>
              </a:rPr>
              <a:t>Produção por Município — toneladas</a:t>
            </a:r>
          </a:p>
        </c:rich>
      </c:tx>
      <c:overlay val="0"/>
    </c:title>
    <c:autoTitleDeleted val="0"/>
    <c:plotArea>
      <c:layout/>
      <c:barChart>
        <c:barDir val="bar"/>
        <c:grouping val="clustered"/>
        <c:varyColors val="0"/>
        <c:ser>
          <c:idx val="0"/>
          <c:order val="0"/>
          <c:tx>
            <c:strRef>
              <c:f>Sheet1!$B$1</c:f>
              <c:strCache>
                <c:ptCount val="1"/>
                <c:pt idx="0">
                  <c:v>2022</c:v>
                </c:pt>
              </c:strCache>
            </c:strRef>
          </c:tx>
          <c:spPr>
            <a:solidFill>
              <a:srgbClr val="C9768A"/>
            </a:solidFill>
            <a:effectLst/>
          </c:spPr>
          <c:invertIfNegative val="0"/>
          <c:cat>
            <c:strRef>
              <c:f>Sheet1!$A$2:$A$9</c:f>
              <c:strCache>
                <c:ptCount val="8"/>
                <c:pt idx="0">
                  <c:v>Flores da Cunha</c:v>
                </c:pt>
                <c:pt idx="1">
                  <c:v>Farroupilha</c:v>
                </c:pt>
                <c:pt idx="2">
                  <c:v>Caxias do Sul</c:v>
                </c:pt>
                <c:pt idx="3">
                  <c:v>Bento Gonçalves</c:v>
                </c:pt>
                <c:pt idx="4">
                  <c:v>Garibaldi</c:v>
                </c:pt>
                <c:pt idx="5">
                  <c:v>Monte Belo do Sul</c:v>
                </c:pt>
                <c:pt idx="6">
                  <c:v>Antônio Prado</c:v>
                </c:pt>
                <c:pt idx="7">
                  <c:v>Pinto Bandeira</c:v>
                </c:pt>
              </c:strCache>
            </c:strRef>
          </c:cat>
          <c:val>
            <c:numRef>
              <c:f>Sheet1!$B$2:$B$9</c:f>
              <c:numCache>
                <c:formatCode>General</c:formatCode>
                <c:ptCount val="8"/>
                <c:pt idx="0">
                  <c:v>96290</c:v>
                </c:pt>
                <c:pt idx="1">
                  <c:v>67580</c:v>
                </c:pt>
                <c:pt idx="2">
                  <c:v>56700</c:v>
                </c:pt>
                <c:pt idx="3">
                  <c:v>72537</c:v>
                </c:pt>
                <c:pt idx="4">
                  <c:v>39699</c:v>
                </c:pt>
                <c:pt idx="5">
                  <c:v>36224</c:v>
                </c:pt>
                <c:pt idx="6">
                  <c:v>31900</c:v>
                </c:pt>
                <c:pt idx="7">
                  <c:v>31070</c:v>
                </c:pt>
              </c:numCache>
            </c:numRef>
          </c:val>
          <c:extLst>
            <c:ext xmlns:c16="http://schemas.microsoft.com/office/drawing/2014/chart" uri="{C3380CC4-5D6E-409C-BE32-E72D297353CC}">
              <c16:uniqueId val="{00000000-C2CC-4AF2-BAC1-807C920DF5EE}"/>
            </c:ext>
          </c:extLst>
        </c:ser>
        <c:ser>
          <c:idx val="1"/>
          <c:order val="1"/>
          <c:tx>
            <c:strRef>
              <c:f>Sheet1!$C$1</c:f>
              <c:strCache>
                <c:ptCount val="1"/>
                <c:pt idx="0">
                  <c:v>2023</c:v>
                </c:pt>
              </c:strCache>
            </c:strRef>
          </c:tx>
          <c:spPr>
            <a:solidFill>
              <a:srgbClr val="9B2E52"/>
            </a:solidFill>
            <a:effectLst/>
          </c:spPr>
          <c:invertIfNegative val="0"/>
          <c:cat>
            <c:strRef>
              <c:f>Sheet1!$A$2:$A$9</c:f>
              <c:strCache>
                <c:ptCount val="8"/>
                <c:pt idx="0">
                  <c:v>Flores da Cunha</c:v>
                </c:pt>
                <c:pt idx="1">
                  <c:v>Farroupilha</c:v>
                </c:pt>
                <c:pt idx="2">
                  <c:v>Caxias do Sul</c:v>
                </c:pt>
                <c:pt idx="3">
                  <c:v>Bento Gonçalves</c:v>
                </c:pt>
                <c:pt idx="4">
                  <c:v>Garibaldi</c:v>
                </c:pt>
                <c:pt idx="5">
                  <c:v>Monte Belo do Sul</c:v>
                </c:pt>
                <c:pt idx="6">
                  <c:v>Antônio Prado</c:v>
                </c:pt>
                <c:pt idx="7">
                  <c:v>Pinto Bandeira</c:v>
                </c:pt>
              </c:strCache>
            </c:strRef>
          </c:cat>
          <c:val>
            <c:numRef>
              <c:f>Sheet1!$C$2:$C$9</c:f>
              <c:numCache>
                <c:formatCode>General</c:formatCode>
                <c:ptCount val="8"/>
                <c:pt idx="0">
                  <c:v>120060</c:v>
                </c:pt>
                <c:pt idx="1">
                  <c:v>65359</c:v>
                </c:pt>
                <c:pt idx="2">
                  <c:v>68080</c:v>
                </c:pt>
                <c:pt idx="3">
                  <c:v>94170</c:v>
                </c:pt>
                <c:pt idx="4">
                  <c:v>46781</c:v>
                </c:pt>
                <c:pt idx="5">
                  <c:v>50205</c:v>
                </c:pt>
                <c:pt idx="6">
                  <c:v>41800</c:v>
                </c:pt>
                <c:pt idx="7">
                  <c:v>43395</c:v>
                </c:pt>
              </c:numCache>
            </c:numRef>
          </c:val>
          <c:extLst>
            <c:ext xmlns:c16="http://schemas.microsoft.com/office/drawing/2014/chart" uri="{C3380CC4-5D6E-409C-BE32-E72D297353CC}">
              <c16:uniqueId val="{00000001-C2CC-4AF2-BAC1-807C920DF5EE}"/>
            </c:ext>
          </c:extLst>
        </c:ser>
        <c:ser>
          <c:idx val="2"/>
          <c:order val="2"/>
          <c:tx>
            <c:strRef>
              <c:f>Sheet1!$D$1</c:f>
              <c:strCache>
                <c:ptCount val="1"/>
                <c:pt idx="0">
                  <c:v>2024</c:v>
                </c:pt>
              </c:strCache>
            </c:strRef>
          </c:tx>
          <c:spPr>
            <a:solidFill>
              <a:srgbClr val="6D1E3A"/>
            </a:solidFill>
            <a:effectLst/>
          </c:spPr>
          <c:invertIfNegative val="0"/>
          <c:cat>
            <c:strRef>
              <c:f>Sheet1!$A$2:$A$9</c:f>
              <c:strCache>
                <c:ptCount val="8"/>
                <c:pt idx="0">
                  <c:v>Flores da Cunha</c:v>
                </c:pt>
                <c:pt idx="1">
                  <c:v>Farroupilha</c:v>
                </c:pt>
                <c:pt idx="2">
                  <c:v>Caxias do Sul</c:v>
                </c:pt>
                <c:pt idx="3">
                  <c:v>Bento Gonçalves</c:v>
                </c:pt>
                <c:pt idx="4">
                  <c:v>Garibaldi</c:v>
                </c:pt>
                <c:pt idx="5">
                  <c:v>Monte Belo do Sul</c:v>
                </c:pt>
                <c:pt idx="6">
                  <c:v>Antônio Prado</c:v>
                </c:pt>
                <c:pt idx="7">
                  <c:v>Pinto Bandeira</c:v>
                </c:pt>
              </c:strCache>
            </c:strRef>
          </c:cat>
          <c:val>
            <c:numRef>
              <c:f>Sheet1!$D$2:$D$9</c:f>
              <c:numCache>
                <c:formatCode>General</c:formatCode>
                <c:ptCount val="8"/>
                <c:pt idx="0">
                  <c:v>116075</c:v>
                </c:pt>
                <c:pt idx="1">
                  <c:v>59200</c:v>
                </c:pt>
                <c:pt idx="2">
                  <c:v>60928</c:v>
                </c:pt>
                <c:pt idx="3">
                  <c:v>65092</c:v>
                </c:pt>
                <c:pt idx="4">
                  <c:v>36231</c:v>
                </c:pt>
                <c:pt idx="5">
                  <c:v>31445</c:v>
                </c:pt>
                <c:pt idx="6">
                  <c:v>20718</c:v>
                </c:pt>
                <c:pt idx="7">
                  <c:v>27660</c:v>
                </c:pt>
              </c:numCache>
            </c:numRef>
          </c:val>
          <c:extLst>
            <c:ext xmlns:c16="http://schemas.microsoft.com/office/drawing/2014/chart" uri="{C3380CC4-5D6E-409C-BE32-E72D297353CC}">
              <c16:uniqueId val="{00000002-C2CC-4AF2-BAC1-807C920DF5E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4"/>
        <c:crosses val="autoZero"/>
        <c:crossBetween val="between"/>
      </c:valAx>
      <c:spPr>
        <a:noFill/>
        <a:ln>
          <a:noFill/>
        </a:ln>
        <a:effectLst/>
      </c:spPr>
    </c:plotArea>
    <c:legend>
      <c:legendPos val="b"/>
      <c:overlay val="0"/>
      <c:txPr>
        <a:bodyPr/>
        <a:lstStyle/>
        <a:p>
          <a:pPr>
            <a:defRPr sz="1000"/>
          </a:pPr>
          <a:endParaRPr lang="pt-BR"/>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c:style val="2"/>
  <c:chart>
    <c:title>
      <c:tx>
        <c:rich>
          <a:bodyPr/>
          <a:lstStyle/>
          <a:p>
            <a:pPr>
              <a:defRPr sz="1200" b="0" i="0" u="none" strike="noStrike">
                <a:solidFill>
                  <a:srgbClr val="3D6B45"/>
                </a:solidFill>
                <a:latin typeface="Arial"/>
              </a:defRPr>
            </a:pPr>
            <a:r>
              <a:rPr lang="pt-BR" sz="1200" b="0" i="0" u="none" strike="noStrike">
                <a:solidFill>
                  <a:srgbClr val="3D6B45"/>
                </a:solidFill>
                <a:latin typeface="Arial"/>
              </a:rPr>
              <a:t>Exportações RS — Valor US$ FOB</a:t>
            </a:r>
          </a:p>
        </c:rich>
      </c:tx>
      <c:overlay val="0"/>
    </c:title>
    <c:autoTitleDeleted val="0"/>
    <c:plotArea>
      <c:layout/>
      <c:lineChart>
        <c:grouping val="standard"/>
        <c:varyColors val="0"/>
        <c:ser>
          <c:idx val="0"/>
          <c:order val="0"/>
          <c:tx>
            <c:strRef>
              <c:f>Sheet1!$B$1</c:f>
              <c:strCache>
                <c:ptCount val="1"/>
                <c:pt idx="0">
                  <c:v>RS — Valor FOB (USD)</c:v>
                </c:pt>
              </c:strCache>
            </c:strRef>
          </c:tx>
          <c:spPr>
            <a:ln w="38100" cap="flat">
              <a:solidFill>
                <a:srgbClr val="3D6B45"/>
              </a:solidFill>
              <a:prstDash val="solid"/>
              <a:round/>
            </a:ln>
            <a:effectLst/>
          </c:spPr>
          <c:marker>
            <c:symbol val="circle"/>
            <c:size val="6"/>
            <c:spPr>
              <a:solidFill>
                <a:srgbClr val="3D6B45"/>
              </a:solidFill>
              <a:ln w="9525" cap="flat">
                <a:solidFill>
                  <a:srgbClr val="3D6B45"/>
                </a:solidFill>
                <a:prstDash val="solid"/>
                <a:round/>
              </a:ln>
              <a:effectLst/>
            </c:spPr>
          </c:marker>
          <c:dLbls>
            <c:numFmt formatCode="&quot;U$&quot;\ #,##0" sourceLinked="0"/>
            <c:spPr>
              <a:noFill/>
              <a:ln>
                <a:noFill/>
              </a:ln>
              <a:effectLst/>
            </c:spPr>
            <c:txPr>
              <a:bodyPr/>
              <a:lstStyle/>
              <a:p>
                <a:pPr>
                  <a:defRPr sz="1000" b="0" i="0" u="none" strike="noStrike">
                    <a:solidFill>
                      <a:srgbClr val="3D6B45"/>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Sheet1!$B$2:$B$5</c:f>
              <c:numCache>
                <c:formatCode>General</c:formatCode>
                <c:ptCount val="4"/>
                <c:pt idx="0">
                  <c:v>12465903</c:v>
                </c:pt>
                <c:pt idx="1">
                  <c:v>9185477</c:v>
                </c:pt>
                <c:pt idx="2">
                  <c:v>9185284</c:v>
                </c:pt>
                <c:pt idx="3">
                  <c:v>11591388</c:v>
                </c:pt>
              </c:numCache>
            </c:numRef>
          </c:val>
          <c:smooth val="1"/>
          <c:extLst>
            <c:ext xmlns:c16="http://schemas.microsoft.com/office/drawing/2014/chart" uri="{C3380CC4-5D6E-409C-BE32-E72D297353CC}">
              <c16:uniqueId val="{00000000-66F9-49A7-A1C5-D83504A637F1}"/>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c:style val="2"/>
  <c:chart>
    <c:title>
      <c:tx>
        <c:rich>
          <a:bodyPr/>
          <a:lstStyle/>
          <a:p>
            <a:pPr>
              <a:defRPr sz="1200" b="0" i="0" u="none" strike="noStrike">
                <a:solidFill>
                  <a:srgbClr val="3D6B45"/>
                </a:solidFill>
                <a:latin typeface="Arial"/>
              </a:defRPr>
            </a:pPr>
            <a:r>
              <a:rPr lang="pt-BR" sz="1200" b="0" i="0" u="none" strike="noStrike">
                <a:solidFill>
                  <a:srgbClr val="3D6B45"/>
                </a:solidFill>
                <a:latin typeface="Arial"/>
              </a:rPr>
              <a:t>Exportações por Estado — 2022 vs 2025</a:t>
            </a:r>
          </a:p>
        </c:rich>
      </c:tx>
      <c:overlay val="0"/>
    </c:title>
    <c:autoTitleDeleted val="0"/>
    <c:plotArea>
      <c:layout/>
      <c:barChart>
        <c:barDir val="bar"/>
        <c:grouping val="clustered"/>
        <c:varyColors val="0"/>
        <c:ser>
          <c:idx val="0"/>
          <c:order val="0"/>
          <c:tx>
            <c:strRef>
              <c:f>Sheet1!$B$1</c:f>
              <c:strCache>
                <c:ptCount val="1"/>
                <c:pt idx="0">
                  <c:v>2022</c:v>
                </c:pt>
              </c:strCache>
            </c:strRef>
          </c:tx>
          <c:spPr>
            <a:solidFill>
              <a:srgbClr val="C9768A"/>
            </a:solidFill>
            <a:effectLst/>
          </c:spPr>
          <c:invertIfNegative val="0"/>
          <c:dLbls>
            <c:numFmt formatCode="#,##0" sourceLinked="0"/>
            <c:spPr>
              <a:noFill/>
              <a:ln>
                <a:noFill/>
              </a:ln>
              <a:effectLst/>
            </c:spPr>
            <c:txPr>
              <a:bodyPr/>
              <a:lstStyle/>
              <a:p>
                <a:pPr>
                  <a:defRPr sz="800" b="0" i="0" u="none" strike="noStrike">
                    <a:solidFill>
                      <a:srgbClr val="1A1A2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RS</c:v>
                </c:pt>
                <c:pt idx="1">
                  <c:v>SP</c:v>
                </c:pt>
                <c:pt idx="2">
                  <c:v>PR</c:v>
                </c:pt>
                <c:pt idx="3">
                  <c:v>SC</c:v>
                </c:pt>
                <c:pt idx="4">
                  <c:v>BA</c:v>
                </c:pt>
              </c:strCache>
            </c:strRef>
          </c:cat>
          <c:val>
            <c:numRef>
              <c:f>Sheet1!$B$2:$B$6</c:f>
              <c:numCache>
                <c:formatCode>General</c:formatCode>
                <c:ptCount val="5"/>
                <c:pt idx="0">
                  <c:v>12465903</c:v>
                </c:pt>
                <c:pt idx="1">
                  <c:v>513036</c:v>
                </c:pt>
                <c:pt idx="2">
                  <c:v>660632</c:v>
                </c:pt>
                <c:pt idx="3">
                  <c:v>94571</c:v>
                </c:pt>
                <c:pt idx="4">
                  <c:v>4349</c:v>
                </c:pt>
              </c:numCache>
            </c:numRef>
          </c:val>
          <c:extLst>
            <c:ext xmlns:c16="http://schemas.microsoft.com/office/drawing/2014/chart" uri="{C3380CC4-5D6E-409C-BE32-E72D297353CC}">
              <c16:uniqueId val="{00000000-0F0F-4028-87F3-279C4B4EE43F}"/>
            </c:ext>
          </c:extLst>
        </c:ser>
        <c:ser>
          <c:idx val="1"/>
          <c:order val="1"/>
          <c:tx>
            <c:strRef>
              <c:f>Sheet1!$C$1</c:f>
              <c:strCache>
                <c:ptCount val="1"/>
                <c:pt idx="0">
                  <c:v>2025</c:v>
                </c:pt>
              </c:strCache>
            </c:strRef>
          </c:tx>
          <c:spPr>
            <a:solidFill>
              <a:srgbClr val="3D6B45"/>
            </a:solidFill>
            <a:effectLst/>
          </c:spPr>
          <c:invertIfNegative val="0"/>
          <c:dLbls>
            <c:numFmt formatCode="#,##0" sourceLinked="0"/>
            <c:spPr>
              <a:noFill/>
              <a:ln>
                <a:noFill/>
              </a:ln>
              <a:effectLst/>
            </c:spPr>
            <c:txPr>
              <a:bodyPr/>
              <a:lstStyle/>
              <a:p>
                <a:pPr>
                  <a:defRPr sz="800" b="0" i="0" u="none" strike="noStrike">
                    <a:solidFill>
                      <a:srgbClr val="1A1A2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RS</c:v>
                </c:pt>
                <c:pt idx="1">
                  <c:v>SP</c:v>
                </c:pt>
                <c:pt idx="2">
                  <c:v>PR</c:v>
                </c:pt>
                <c:pt idx="3">
                  <c:v>SC</c:v>
                </c:pt>
                <c:pt idx="4">
                  <c:v>BA</c:v>
                </c:pt>
              </c:strCache>
            </c:strRef>
          </c:cat>
          <c:val>
            <c:numRef>
              <c:f>Sheet1!$C$2:$C$6</c:f>
              <c:numCache>
                <c:formatCode>General</c:formatCode>
                <c:ptCount val="5"/>
                <c:pt idx="0">
                  <c:v>11591388</c:v>
                </c:pt>
                <c:pt idx="1">
                  <c:v>1128737</c:v>
                </c:pt>
                <c:pt idx="2">
                  <c:v>173718</c:v>
                </c:pt>
                <c:pt idx="3">
                  <c:v>127690</c:v>
                </c:pt>
                <c:pt idx="4">
                  <c:v>443013</c:v>
                </c:pt>
              </c:numCache>
            </c:numRef>
          </c:val>
          <c:extLst>
            <c:ext xmlns:c16="http://schemas.microsoft.com/office/drawing/2014/chart" uri="{C3380CC4-5D6E-409C-BE32-E72D297353CC}">
              <c16:uniqueId val="{00000001-0F0F-4028-87F3-279C4B4EE4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4"/>
        <c:crosses val="autoZero"/>
        <c:crossBetween val="between"/>
      </c:valAx>
      <c:spPr>
        <a:noFill/>
        <a:ln>
          <a:noFill/>
        </a:ln>
        <a:effectLst/>
      </c:spPr>
    </c:plotArea>
    <c:legend>
      <c:legendPos val="b"/>
      <c:overlay val="0"/>
      <c:txPr>
        <a:bodyPr/>
        <a:lstStyle/>
        <a:p>
          <a:pPr>
            <a:defRPr sz="1000"/>
          </a:pPr>
          <a:endParaRPr lang="pt-BR"/>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c:style val="2"/>
  <c:chart>
    <c:title>
      <c:tx>
        <c:rich>
          <a:bodyPr/>
          <a:lstStyle/>
          <a:p>
            <a:pPr>
              <a:defRPr sz="1200" b="0" i="0" u="none" strike="noStrike">
                <a:solidFill>
                  <a:srgbClr val="6D1E3A"/>
                </a:solidFill>
                <a:latin typeface="Arial"/>
              </a:defRPr>
            </a:pPr>
            <a:r>
              <a:rPr lang="pt-BR" sz="1200" b="0" i="0" u="none" strike="noStrike">
                <a:solidFill>
                  <a:srgbClr val="6D1E3A"/>
                </a:solidFill>
                <a:latin typeface="Arial"/>
              </a:rPr>
              <a:t>Importações por País — 2022 vs 2025 (US$ FOB)</a:t>
            </a:r>
          </a:p>
        </c:rich>
      </c:tx>
      <c:overlay val="0"/>
    </c:title>
    <c:autoTitleDeleted val="0"/>
    <c:plotArea>
      <c:layout/>
      <c:barChart>
        <c:barDir val="bar"/>
        <c:grouping val="clustered"/>
        <c:varyColors val="0"/>
        <c:ser>
          <c:idx val="0"/>
          <c:order val="0"/>
          <c:tx>
            <c:strRef>
              <c:f>Sheet1!$B$1</c:f>
              <c:strCache>
                <c:ptCount val="1"/>
                <c:pt idx="0">
                  <c:v>2022</c:v>
                </c:pt>
              </c:strCache>
            </c:strRef>
          </c:tx>
          <c:spPr>
            <a:solidFill>
              <a:srgbClr val="C9768A"/>
            </a:solidFill>
            <a:effectLst/>
          </c:spPr>
          <c:invertIfNegative val="0"/>
          <c:cat>
            <c:strRef>
              <c:f>Sheet1!$A$2:$A$8</c:f>
              <c:strCache>
                <c:ptCount val="7"/>
                <c:pt idx="0">
                  <c:v>Chile</c:v>
                </c:pt>
                <c:pt idx="1">
                  <c:v>Argentina</c:v>
                </c:pt>
                <c:pt idx="2">
                  <c:v>Portugal</c:v>
                </c:pt>
                <c:pt idx="3">
                  <c:v>França</c:v>
                </c:pt>
                <c:pt idx="4">
                  <c:v>Itália</c:v>
                </c:pt>
                <c:pt idx="5">
                  <c:v>Espanha</c:v>
                </c:pt>
                <c:pt idx="6">
                  <c:v>Uruguai</c:v>
                </c:pt>
              </c:strCache>
            </c:strRef>
          </c:cat>
          <c:val>
            <c:numRef>
              <c:f>Sheet1!$B$2:$B$8</c:f>
              <c:numCache>
                <c:formatCode>General</c:formatCode>
                <c:ptCount val="7"/>
                <c:pt idx="0">
                  <c:v>185294756</c:v>
                </c:pt>
                <c:pt idx="1">
                  <c:v>91643265</c:v>
                </c:pt>
                <c:pt idx="2">
                  <c:v>65187278</c:v>
                </c:pt>
                <c:pt idx="3">
                  <c:v>39119767</c:v>
                </c:pt>
                <c:pt idx="4">
                  <c:v>36688090</c:v>
                </c:pt>
                <c:pt idx="5">
                  <c:v>22861020</c:v>
                </c:pt>
                <c:pt idx="6">
                  <c:v>10088143</c:v>
                </c:pt>
              </c:numCache>
            </c:numRef>
          </c:val>
          <c:extLst>
            <c:ext xmlns:c16="http://schemas.microsoft.com/office/drawing/2014/chart" uri="{C3380CC4-5D6E-409C-BE32-E72D297353CC}">
              <c16:uniqueId val="{00000000-C9AA-4BB3-B5F2-BD3B7AB56B9F}"/>
            </c:ext>
          </c:extLst>
        </c:ser>
        <c:ser>
          <c:idx val="1"/>
          <c:order val="1"/>
          <c:tx>
            <c:strRef>
              <c:f>Sheet1!$C$1</c:f>
              <c:strCache>
                <c:ptCount val="1"/>
                <c:pt idx="0">
                  <c:v>2025</c:v>
                </c:pt>
              </c:strCache>
            </c:strRef>
          </c:tx>
          <c:spPr>
            <a:solidFill>
              <a:srgbClr val="C8963C"/>
            </a:solidFill>
            <a:effectLst/>
          </c:spPr>
          <c:invertIfNegative val="0"/>
          <c:cat>
            <c:strRef>
              <c:f>Sheet1!$A$2:$A$8</c:f>
              <c:strCache>
                <c:ptCount val="7"/>
                <c:pt idx="0">
                  <c:v>Chile</c:v>
                </c:pt>
                <c:pt idx="1">
                  <c:v>Argentina</c:v>
                </c:pt>
                <c:pt idx="2">
                  <c:v>Portugal</c:v>
                </c:pt>
                <c:pt idx="3">
                  <c:v>França</c:v>
                </c:pt>
                <c:pt idx="4">
                  <c:v>Itália</c:v>
                </c:pt>
                <c:pt idx="5">
                  <c:v>Espanha</c:v>
                </c:pt>
                <c:pt idx="6">
                  <c:v>Uruguai</c:v>
                </c:pt>
              </c:strCache>
            </c:strRef>
          </c:cat>
          <c:val>
            <c:numRef>
              <c:f>Sheet1!$C$2:$C$8</c:f>
              <c:numCache>
                <c:formatCode>General</c:formatCode>
                <c:ptCount val="7"/>
                <c:pt idx="0">
                  <c:v>213057732</c:v>
                </c:pt>
                <c:pt idx="1">
                  <c:v>99421775</c:v>
                </c:pt>
                <c:pt idx="2">
                  <c:v>84435232</c:v>
                </c:pt>
                <c:pt idx="3">
                  <c:v>63835955</c:v>
                </c:pt>
                <c:pt idx="4">
                  <c:v>49260806</c:v>
                </c:pt>
                <c:pt idx="5">
                  <c:v>31956720</c:v>
                </c:pt>
                <c:pt idx="6">
                  <c:v>7819248</c:v>
                </c:pt>
              </c:numCache>
            </c:numRef>
          </c:val>
          <c:extLst>
            <c:ext xmlns:c16="http://schemas.microsoft.com/office/drawing/2014/chart" uri="{C3380CC4-5D6E-409C-BE32-E72D297353CC}">
              <c16:uniqueId val="{00000001-C9AA-4BB3-B5F2-BD3B7AB56B9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4"/>
        <c:crosses val="autoZero"/>
        <c:crossBetween val="between"/>
      </c:valAx>
      <c:spPr>
        <a:noFill/>
        <a:ln>
          <a:noFill/>
        </a:ln>
        <a:effectLst/>
      </c:spPr>
    </c:plotArea>
    <c:legend>
      <c:legendPos val="b"/>
      <c:overlay val="0"/>
      <c:txPr>
        <a:bodyPr/>
        <a:lstStyle/>
        <a:p>
          <a:pPr>
            <a:defRPr sz="1000"/>
          </a:pPr>
          <a:endParaRPr lang="pt-BR"/>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c:style val="2"/>
  <c:chart>
    <c:title>
      <c:tx>
        <c:rich>
          <a:bodyPr/>
          <a:lstStyle/>
          <a:p>
            <a:pPr>
              <a:defRPr sz="1200" b="0" i="0" u="none" strike="noStrike">
                <a:solidFill>
                  <a:srgbClr val="6D1E3A"/>
                </a:solidFill>
                <a:latin typeface="Arial"/>
              </a:defRPr>
            </a:pPr>
            <a:r>
              <a:rPr lang="pt-BR" sz="1200" b="0" i="0" u="none" strike="noStrike">
                <a:solidFill>
                  <a:srgbClr val="6D1E3A"/>
                </a:solidFill>
                <a:latin typeface="Arial"/>
              </a:rPr>
              <a:t>Arrecadação ICMS — Vinho (R$ Milhões)</a:t>
            </a:r>
          </a:p>
        </c:rich>
      </c:tx>
      <c:overlay val="0"/>
    </c:title>
    <c:autoTitleDeleted val="0"/>
    <c:plotArea>
      <c:layout/>
      <c:lineChart>
        <c:grouping val="standard"/>
        <c:varyColors val="0"/>
        <c:ser>
          <c:idx val="0"/>
          <c:order val="0"/>
          <c:tx>
            <c:strRef>
              <c:f>Sheet1!$B$1</c:f>
              <c:strCache>
                <c:ptCount val="1"/>
                <c:pt idx="0">
                  <c:v>ICMS Vinho (R$ Mi)</c:v>
                </c:pt>
              </c:strCache>
            </c:strRef>
          </c:tx>
          <c:spPr>
            <a:ln w="38100" cap="flat">
              <a:solidFill>
                <a:srgbClr val="6D1E3A"/>
              </a:solidFill>
              <a:prstDash val="solid"/>
              <a:round/>
            </a:ln>
            <a:effectLst/>
          </c:spPr>
          <c:marker>
            <c:symbol val="circle"/>
            <c:size val="6"/>
            <c:spPr>
              <a:solidFill>
                <a:srgbClr val="6D1E3A"/>
              </a:solidFill>
              <a:ln w="9525" cap="flat">
                <a:solidFill>
                  <a:srgbClr val="6D1E3A"/>
                </a:solidFill>
                <a:prstDash val="solid"/>
                <a:round/>
              </a:ln>
              <a:effectLst/>
            </c:spPr>
          </c:marker>
          <c:dLbls>
            <c:numFmt formatCode="#,##0" sourceLinked="0"/>
            <c:spPr>
              <a:noFill/>
              <a:ln>
                <a:noFill/>
              </a:ln>
              <a:effectLst/>
            </c:spPr>
            <c:txPr>
              <a:bodyPr/>
              <a:lstStyle/>
              <a:p>
                <a:pPr>
                  <a:defRPr sz="900" b="0" i="0" u="none" strike="noStrike">
                    <a:solidFill>
                      <a:srgbClr val="6D1E3A"/>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156.9</c:v>
                </c:pt>
                <c:pt idx="1">
                  <c:v>171.9</c:v>
                </c:pt>
                <c:pt idx="2">
                  <c:v>179.8</c:v>
                </c:pt>
                <c:pt idx="3">
                  <c:v>202.7</c:v>
                </c:pt>
                <c:pt idx="4">
                  <c:v>178.1</c:v>
                </c:pt>
                <c:pt idx="5">
                  <c:v>156.1</c:v>
                </c:pt>
                <c:pt idx="6">
                  <c:v>178.4</c:v>
                </c:pt>
                <c:pt idx="7">
                  <c:v>197.5</c:v>
                </c:pt>
                <c:pt idx="8">
                  <c:v>217.5</c:v>
                </c:pt>
                <c:pt idx="9">
                  <c:v>248.2</c:v>
                </c:pt>
                <c:pt idx="10">
                  <c:v>277.2</c:v>
                </c:pt>
              </c:numCache>
            </c:numRef>
          </c:val>
          <c:smooth val="1"/>
          <c:extLst>
            <c:ext xmlns:c16="http://schemas.microsoft.com/office/drawing/2014/chart" uri="{C3380CC4-5D6E-409C-BE32-E72D297353CC}">
              <c16:uniqueId val="{00000000-78F6-420A-BA58-684270CA0882}"/>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c:style val="2"/>
  <c:chart>
    <c:title>
      <c:tx>
        <c:rich>
          <a:bodyPr/>
          <a:lstStyle/>
          <a:p>
            <a:pPr>
              <a:defRPr sz="1200" b="0" i="0" u="none" strike="noStrike">
                <a:solidFill>
                  <a:srgbClr val="6D1E3A"/>
                </a:solidFill>
                <a:latin typeface="Arial"/>
              </a:defRPr>
            </a:pPr>
            <a:r>
              <a:rPr lang="pt-BR" sz="1200" b="0" i="0" u="none" strike="noStrike">
                <a:solidFill>
                  <a:srgbClr val="6D1E3A"/>
                </a:solidFill>
                <a:latin typeface="Arial"/>
              </a:rPr>
              <a:t>Participação no Total ICMS-RS (%)</a:t>
            </a:r>
          </a:p>
        </c:rich>
      </c:tx>
      <c:overlay val="0"/>
    </c:title>
    <c:autoTitleDeleted val="0"/>
    <c:plotArea>
      <c:layout/>
      <c:lineChart>
        <c:grouping val="standard"/>
        <c:varyColors val="0"/>
        <c:ser>
          <c:idx val="0"/>
          <c:order val="0"/>
          <c:tx>
            <c:strRef>
              <c:f>Sheet1!$B$1</c:f>
              <c:strCache>
                <c:ptCount val="1"/>
                <c:pt idx="0">
                  <c:v>% do Total ICMS</c:v>
                </c:pt>
              </c:strCache>
            </c:strRef>
          </c:tx>
          <c:spPr>
            <a:ln w="38100" cap="flat">
              <a:solidFill>
                <a:srgbClr val="C8963C"/>
              </a:solidFill>
              <a:prstDash val="solid"/>
              <a:round/>
            </a:ln>
            <a:effectLst/>
          </c:spPr>
          <c:marker>
            <c:symbol val="circle"/>
            <c:size val="6"/>
            <c:spPr>
              <a:solidFill>
                <a:srgbClr val="C8963C"/>
              </a:solidFill>
              <a:ln w="9525" cap="flat">
                <a:solidFill>
                  <a:srgbClr val="C8963C"/>
                </a:solidFill>
                <a:prstDash val="solid"/>
                <a:round/>
              </a:ln>
              <a:effectLst/>
            </c:spPr>
          </c:marker>
          <c:dLbls>
            <c:numFmt formatCode="0.00&quot;%&quot;" sourceLinked="0"/>
            <c:spPr>
              <a:noFill/>
              <a:ln>
                <a:noFill/>
              </a:ln>
              <a:effectLst/>
            </c:spPr>
            <c:txPr>
              <a:bodyPr/>
              <a:lstStyle/>
              <a:p>
                <a:pPr>
                  <a:defRPr sz="900" b="0" i="0" u="none" strike="noStrike">
                    <a:solidFill>
                      <a:srgbClr val="6D1E3A"/>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0.57999999999999996</c:v>
                </c:pt>
                <c:pt idx="1">
                  <c:v>0.56999999999999995</c:v>
                </c:pt>
                <c:pt idx="2">
                  <c:v>0.56000000000000005</c:v>
                </c:pt>
                <c:pt idx="3">
                  <c:v>0.57999999999999996</c:v>
                </c:pt>
                <c:pt idx="4">
                  <c:v>0.5</c:v>
                </c:pt>
                <c:pt idx="5">
                  <c:v>0.43</c:v>
                </c:pt>
                <c:pt idx="6">
                  <c:v>0.39</c:v>
                </c:pt>
                <c:pt idx="7">
                  <c:v>0.46</c:v>
                </c:pt>
                <c:pt idx="8">
                  <c:v>0.49</c:v>
                </c:pt>
                <c:pt idx="9">
                  <c:v>0.49</c:v>
                </c:pt>
                <c:pt idx="10">
                  <c:v>0.52</c:v>
                </c:pt>
              </c:numCache>
            </c:numRef>
          </c:val>
          <c:smooth val="1"/>
          <c:extLst>
            <c:ext xmlns:c16="http://schemas.microsoft.com/office/drawing/2014/chart" uri="{C3380CC4-5D6E-409C-BE32-E72D297353CC}">
              <c16:uniqueId val="{00000000-A271-4767-82E1-03D1A9EB7D2F}"/>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pt-BR"/>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239F31-86A4-4069-8FF5-1136252AE3FA}" type="datetimeFigureOut">
              <a:rPr lang="pt-BR" smtClean="0"/>
              <a:t>25/06/2026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9F0A5-88FA-4568-8608-4CD38DD57F0F}" type="slidenum">
              <a:rPr lang="pt-BR" smtClean="0"/>
              <a:t>‹nº›</a:t>
            </a:fld>
            <a:endParaRPr lang="pt-BR"/>
          </a:p>
        </p:txBody>
      </p:sp>
    </p:spTree>
    <p:extLst>
      <p:ext uri="{BB962C8B-B14F-4D97-AF65-F5344CB8AC3E}">
        <p14:creationId xmlns:p14="http://schemas.microsoft.com/office/powerpoint/2010/main" val="3172779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9680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0623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4BCA66-B5C8-CC34-5796-871DBC7BAB6D}"/>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C2188BA-5EFA-3054-B6E5-DEE182EC8B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CF3E925E-671B-B4EE-B288-5343A25AF752}"/>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5" name="Espaço Reservado para Rodapé 4">
            <a:extLst>
              <a:ext uri="{FF2B5EF4-FFF2-40B4-BE49-F238E27FC236}">
                <a16:creationId xmlns:a16="http://schemas.microsoft.com/office/drawing/2014/main" id="{74E735FD-F5C3-625D-A73B-BA92179B39F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0E6F089-9413-9146-5CC6-5A4CD9B72752}"/>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2154264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178FD-DC1D-D646-2284-1D464F53EE3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85F2253-9F13-B99F-5AEE-1308C74EF6CF}"/>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B433F9F-1658-61B7-6F84-955225B261D2}"/>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5" name="Espaço Reservado para Rodapé 4">
            <a:extLst>
              <a:ext uri="{FF2B5EF4-FFF2-40B4-BE49-F238E27FC236}">
                <a16:creationId xmlns:a16="http://schemas.microsoft.com/office/drawing/2014/main" id="{08D14F05-242F-C884-3BEE-1EB7384C5ED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7CB693-015E-1A3C-6E3C-48AF4B1385A5}"/>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1446643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00E6E9-C466-DE46-C902-A67A2B1B40D9}"/>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04DF226F-C425-8282-D079-C1CCBC0630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55591CF3-C9B4-3D3F-3D1A-C8908FFEAB25}"/>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5" name="Espaço Reservado para Rodapé 4">
            <a:extLst>
              <a:ext uri="{FF2B5EF4-FFF2-40B4-BE49-F238E27FC236}">
                <a16:creationId xmlns:a16="http://schemas.microsoft.com/office/drawing/2014/main" id="{B914311B-ECFB-6452-B585-28FF0736417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B1B05F3-B20F-F3D8-848C-CA84E2EAE260}"/>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784379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91E76-187A-43F1-D1BD-97F7C4F40BC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A6CADD6-6C7D-912A-F82F-8BC26064477F}"/>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73040DA9-842B-7446-86E0-5580026491E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18AA0B2-BDAA-26B0-4079-B47667DDA6F0}"/>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6" name="Espaço Reservado para Rodapé 5">
            <a:extLst>
              <a:ext uri="{FF2B5EF4-FFF2-40B4-BE49-F238E27FC236}">
                <a16:creationId xmlns:a16="http://schemas.microsoft.com/office/drawing/2014/main" id="{6A777A65-BFEC-4F3E-D5F4-082A330ADF8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A4C5E46-41F8-E740-7AAE-5344B347E4E8}"/>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27262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C117AB-EF78-BC21-991F-57F1A4C96B7B}"/>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69B5844E-968D-AF88-A6D1-39DCA535AB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F629AED-0246-B77E-C184-A1E09734FED1}"/>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AB2180F-CCF1-B757-2A2D-2E02B354AB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D9FB157C-4028-AE03-3E37-498F29B6E7B3}"/>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D6B5C9C-A6F5-7CD3-F2C5-10121DA351EA}"/>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8" name="Espaço Reservado para Rodapé 7">
            <a:extLst>
              <a:ext uri="{FF2B5EF4-FFF2-40B4-BE49-F238E27FC236}">
                <a16:creationId xmlns:a16="http://schemas.microsoft.com/office/drawing/2014/main" id="{778E911B-CFD7-3061-F9D6-004C1F746E8A}"/>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7B390A95-3545-E684-B304-A0FA5CB49B8A}"/>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2752221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42B818-D777-A21E-55AE-619AFDB5E7C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05A725AE-8CA9-8D52-7C26-6247E24A17F5}"/>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4" name="Espaço Reservado para Rodapé 3">
            <a:extLst>
              <a:ext uri="{FF2B5EF4-FFF2-40B4-BE49-F238E27FC236}">
                <a16:creationId xmlns:a16="http://schemas.microsoft.com/office/drawing/2014/main" id="{E8FC2568-F4FE-21DA-E02B-329158AE725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0D05F61F-48C5-A793-F25C-D1B8EE77A350}"/>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1649886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FFC73E93-D269-0AB6-8139-DE35E62C7352}"/>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3" name="Espaço Reservado para Rodapé 2">
            <a:extLst>
              <a:ext uri="{FF2B5EF4-FFF2-40B4-BE49-F238E27FC236}">
                <a16:creationId xmlns:a16="http://schemas.microsoft.com/office/drawing/2014/main" id="{FA66D0FC-124B-FCAB-8C2A-574FEEBDC62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702D901-4D74-6A10-15FC-1E5CFBD63628}"/>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441308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82AB76-7DBF-90B9-C2D5-0E2B939889F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7D5DC132-F738-0D2C-2E50-0B228E3BBD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B0B4E47-F4C8-2CD1-3174-B46E53579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30DDE46-DC79-4520-6DA4-C937362AFF47}"/>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6" name="Espaço Reservado para Rodapé 5">
            <a:extLst>
              <a:ext uri="{FF2B5EF4-FFF2-40B4-BE49-F238E27FC236}">
                <a16:creationId xmlns:a16="http://schemas.microsoft.com/office/drawing/2014/main" id="{5965C5B8-6643-182F-AA58-9EC381DC5D5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2A840EB-8C24-EC2D-A8A8-0A77CA5EF9AF}"/>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2550351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657615-F09C-2C1F-3036-102DB23290E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4F2A1FC0-1CCA-847C-65C0-8179A8031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7BEE596-BD78-0DBE-473D-34CABDDC90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631F709-AD71-4ED6-9551-2215A7244895}"/>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6" name="Espaço Reservado para Rodapé 5">
            <a:extLst>
              <a:ext uri="{FF2B5EF4-FFF2-40B4-BE49-F238E27FC236}">
                <a16:creationId xmlns:a16="http://schemas.microsoft.com/office/drawing/2014/main" id="{A03CCB1C-406A-42E4-4998-50369F945EC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77F94F3-5B9B-3E0A-AF49-6706918F9268}"/>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3798588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50CA19-1EDC-41EF-96BF-EE3E36F33916}"/>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70361EA3-2A27-8AFC-4D53-827C3B94030C}"/>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06BB664-FFA5-76CE-FEBA-3DEC8B30AFD4}"/>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5" name="Espaço Reservado para Rodapé 4">
            <a:extLst>
              <a:ext uri="{FF2B5EF4-FFF2-40B4-BE49-F238E27FC236}">
                <a16:creationId xmlns:a16="http://schemas.microsoft.com/office/drawing/2014/main" id="{54E62B6D-0BC8-85E3-A403-BCBA941200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B7AD880-5860-F75D-89DB-C154160F276A}"/>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2652527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C446A10-14A8-6B5E-05E2-6663D3244056}"/>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7D0A166-735B-535A-065E-E396133966D9}"/>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F0844B3-0017-D861-49E2-AD361C5B09AD}"/>
              </a:ext>
            </a:extLst>
          </p:cNvPr>
          <p:cNvSpPr>
            <a:spLocks noGrp="1"/>
          </p:cNvSpPr>
          <p:nvPr>
            <p:ph type="dt" sz="half" idx="10"/>
          </p:nvPr>
        </p:nvSpPr>
        <p:spPr/>
        <p:txBody>
          <a:bodyPr/>
          <a:lstStyle/>
          <a:p>
            <a:fld id="{A369D99B-0F0A-43CD-B65C-5EE5BAA036FD}" type="datetimeFigureOut">
              <a:rPr lang="pt-BR" smtClean="0"/>
              <a:t>25/06/2026</a:t>
            </a:fld>
            <a:endParaRPr lang="pt-BR"/>
          </a:p>
        </p:txBody>
      </p:sp>
      <p:sp>
        <p:nvSpPr>
          <p:cNvPr id="5" name="Espaço Reservado para Rodapé 4">
            <a:extLst>
              <a:ext uri="{FF2B5EF4-FFF2-40B4-BE49-F238E27FC236}">
                <a16:creationId xmlns:a16="http://schemas.microsoft.com/office/drawing/2014/main" id="{E31F7324-3021-A8AC-6AC4-035953A9506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7943164-42B3-0489-760A-A930227EFD01}"/>
              </a:ext>
            </a:extLst>
          </p:cNvPr>
          <p:cNvSpPr>
            <a:spLocks noGrp="1"/>
          </p:cNvSpPr>
          <p:nvPr>
            <p:ph type="sldNum" sz="quarter" idx="12"/>
          </p:nvPr>
        </p:nvSpPr>
        <p:spPr/>
        <p:txBody>
          <a:bodyPr/>
          <a:lstStyle/>
          <a:p>
            <a:fld id="{8227A0B2-8ECA-46FF-9D67-B13E48D2931B}" type="slidenum">
              <a:rPr lang="pt-BR" smtClean="0"/>
              <a:t>‹nº›</a:t>
            </a:fld>
            <a:endParaRPr lang="pt-BR"/>
          </a:p>
        </p:txBody>
      </p:sp>
    </p:spTree>
    <p:extLst>
      <p:ext uri="{BB962C8B-B14F-4D97-AF65-F5344CB8AC3E}">
        <p14:creationId xmlns:p14="http://schemas.microsoft.com/office/powerpoint/2010/main" val="1134300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436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8A615C32-D749-B473-CD58-8E7DC165FD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2ADBAD67-72A0-F728-FE7C-CFFE6FAF24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FEC1D8-8362-363B-EAFE-4F4DEA029A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69D99B-0F0A-43CD-B65C-5EE5BAA036FD}" type="datetimeFigureOut">
              <a:rPr lang="pt-BR" smtClean="0"/>
              <a:t>25/06/2026</a:t>
            </a:fld>
            <a:endParaRPr lang="pt-BR"/>
          </a:p>
        </p:txBody>
      </p:sp>
      <p:sp>
        <p:nvSpPr>
          <p:cNvPr id="5" name="Espaço Reservado para Rodapé 4">
            <a:extLst>
              <a:ext uri="{FF2B5EF4-FFF2-40B4-BE49-F238E27FC236}">
                <a16:creationId xmlns:a16="http://schemas.microsoft.com/office/drawing/2014/main" id="{D6BB8BA7-4942-2EE8-A88E-92F75A5A8E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8052745F-DA1B-3017-F84B-B3F10B0F28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27A0B2-8ECA-46FF-9D67-B13E48D2931B}" type="slidenum">
              <a:rPr lang="pt-BR" smtClean="0"/>
              <a:t>‹nº›</a:t>
            </a:fld>
            <a:endParaRPr lang="pt-BR"/>
          </a:p>
        </p:txBody>
      </p:sp>
    </p:spTree>
    <p:extLst>
      <p:ext uri="{BB962C8B-B14F-4D97-AF65-F5344CB8AC3E}">
        <p14:creationId xmlns:p14="http://schemas.microsoft.com/office/powerpoint/2010/main" val="3045557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7947011"/>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chart" Target="../charts/char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B8027709-C2DB-0C70-C4DB-96009B03C4A0}"/>
              </a:ext>
            </a:extLst>
          </p:cNvPr>
          <p:cNvSpPr>
            <a:spLocks noGrp="1"/>
          </p:cNvSpPr>
          <p:nvPr>
            <p:ph idx="1"/>
          </p:nvPr>
        </p:nvSpPr>
        <p:spPr>
          <a:xfrm>
            <a:off x="637233" y="503342"/>
            <a:ext cx="10515600" cy="5851316"/>
          </a:xfrm>
        </p:spPr>
        <p:txBody>
          <a:bodyPr>
            <a:normAutofit fontScale="70000" lnSpcReduction="20000"/>
          </a:bodyPr>
          <a:lstStyle/>
          <a:p>
            <a:r>
              <a:rPr lang="pt-BR" sz="2400" dirty="0"/>
              <a:t>Introdução</a:t>
            </a:r>
          </a:p>
          <a:p>
            <a:pPr lvl="1"/>
            <a:r>
              <a:rPr lang="pt-BR" dirty="0"/>
              <a:t>Metodologia</a:t>
            </a:r>
          </a:p>
          <a:p>
            <a:pPr lvl="2"/>
            <a:r>
              <a:rPr lang="pt-BR" dirty="0"/>
              <a:t>Eixos da metodologia</a:t>
            </a:r>
          </a:p>
          <a:p>
            <a:pPr lvl="3"/>
            <a:r>
              <a:rPr lang="pt-BR" dirty="0"/>
              <a:t>Cadeia</a:t>
            </a:r>
          </a:p>
          <a:p>
            <a:pPr lvl="3"/>
            <a:r>
              <a:rPr lang="pt-BR" dirty="0"/>
              <a:t>Matéria prima</a:t>
            </a:r>
          </a:p>
          <a:p>
            <a:pPr lvl="3"/>
            <a:r>
              <a:rPr lang="pt-BR" dirty="0"/>
              <a:t>Indústria</a:t>
            </a:r>
          </a:p>
          <a:p>
            <a:pPr lvl="3"/>
            <a:r>
              <a:rPr lang="pt-BR" dirty="0"/>
              <a:t>Exportação</a:t>
            </a:r>
          </a:p>
          <a:p>
            <a:pPr lvl="3"/>
            <a:r>
              <a:rPr lang="pt-BR" dirty="0"/>
              <a:t>Posicionamento no BR</a:t>
            </a:r>
          </a:p>
          <a:p>
            <a:pPr lvl="1"/>
            <a:r>
              <a:rPr lang="pt-BR" dirty="0"/>
              <a:t>Replicabilidade</a:t>
            </a:r>
          </a:p>
          <a:p>
            <a:r>
              <a:rPr lang="pt-BR" sz="2400" dirty="0"/>
              <a:t>Sobre o setor</a:t>
            </a:r>
          </a:p>
          <a:p>
            <a:pPr lvl="1"/>
            <a:r>
              <a:rPr lang="pt-BR" dirty="0"/>
              <a:t>Uva</a:t>
            </a:r>
          </a:p>
          <a:p>
            <a:pPr lvl="1"/>
            <a:r>
              <a:rPr lang="pt-BR" dirty="0" err="1"/>
              <a:t>Vinicolas</a:t>
            </a:r>
            <a:endParaRPr lang="pt-BR" dirty="0"/>
          </a:p>
          <a:p>
            <a:pPr lvl="1"/>
            <a:r>
              <a:rPr lang="pt-BR" dirty="0" err="1"/>
              <a:t>Representividade</a:t>
            </a:r>
            <a:r>
              <a:rPr lang="pt-BR" dirty="0"/>
              <a:t> da atividade RS – BR</a:t>
            </a:r>
          </a:p>
          <a:p>
            <a:pPr lvl="2"/>
            <a:r>
              <a:rPr lang="pt-BR" dirty="0"/>
              <a:t>Impacto econômico direto e indireto (transbordamento)</a:t>
            </a:r>
          </a:p>
          <a:p>
            <a:r>
              <a:rPr lang="pt-BR" sz="2400" dirty="0"/>
              <a:t>Impactos Exógenos</a:t>
            </a:r>
          </a:p>
          <a:p>
            <a:pPr lvl="1"/>
            <a:r>
              <a:rPr lang="pt-BR" dirty="0"/>
              <a:t>Enchente</a:t>
            </a:r>
          </a:p>
          <a:p>
            <a:pPr lvl="1"/>
            <a:r>
              <a:rPr lang="pt-BR" dirty="0"/>
              <a:t>El Nino</a:t>
            </a:r>
          </a:p>
          <a:p>
            <a:pPr lvl="1"/>
            <a:r>
              <a:rPr lang="pt-BR" dirty="0"/>
              <a:t>Problemas do Agro no estado do RS</a:t>
            </a:r>
          </a:p>
          <a:p>
            <a:r>
              <a:rPr lang="pt-BR" sz="2400" dirty="0"/>
              <a:t>Exportação</a:t>
            </a:r>
          </a:p>
          <a:p>
            <a:pPr lvl="1"/>
            <a:r>
              <a:rPr lang="pt-BR" dirty="0"/>
              <a:t>Entrada Europa</a:t>
            </a:r>
          </a:p>
          <a:p>
            <a:pPr lvl="1"/>
            <a:r>
              <a:rPr lang="pt-BR" dirty="0"/>
              <a:t>Vendas interestaduais e internacionais</a:t>
            </a:r>
          </a:p>
          <a:p>
            <a:r>
              <a:rPr lang="pt-BR" sz="2400" dirty="0"/>
              <a:t>Previsões e Posicionamento</a:t>
            </a:r>
          </a:p>
          <a:p>
            <a:r>
              <a:rPr lang="pt-BR" sz="2400" dirty="0"/>
              <a:t>Conclusões (impactos na arrecadação do estado)</a:t>
            </a:r>
          </a:p>
          <a:p>
            <a:pPr lvl="1"/>
            <a:endParaRPr lang="pt-BR" dirty="0"/>
          </a:p>
        </p:txBody>
      </p:sp>
    </p:spTree>
    <p:extLst>
      <p:ext uri="{BB962C8B-B14F-4D97-AF65-F5344CB8AC3E}">
        <p14:creationId xmlns:p14="http://schemas.microsoft.com/office/powerpoint/2010/main" val="4167985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D1E3A"/>
        </a:solidFill>
        <a:effectLst/>
      </p:bgPr>
    </p:bg>
    <p:spTree>
      <p:nvGrpSpPr>
        <p:cNvPr id="1" name=""/>
        <p:cNvGrpSpPr/>
        <p:nvPr/>
      </p:nvGrpSpPr>
      <p:grpSpPr>
        <a:xfrm>
          <a:off x="0" y="0"/>
          <a:ext cx="0" cy="0"/>
          <a:chOff x="0" y="0"/>
          <a:chExt cx="0" cy="0"/>
        </a:xfrm>
      </p:grpSpPr>
      <p:sp>
        <p:nvSpPr>
          <p:cNvPr id="2" name="Shape 0"/>
          <p:cNvSpPr/>
          <p:nvPr/>
        </p:nvSpPr>
        <p:spPr>
          <a:xfrm>
            <a:off x="9875520" y="0"/>
            <a:ext cx="2286000" cy="6858000"/>
          </a:xfrm>
          <a:prstGeom prst="rect">
            <a:avLst/>
          </a:prstGeom>
          <a:solidFill>
            <a:srgbClr val="9B2E52"/>
          </a:solidFill>
          <a:ln w="12700">
            <a:solidFill>
              <a:srgbClr val="9B2E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607040" y="0"/>
            <a:ext cx="1554480" cy="6858000"/>
          </a:xfrm>
          <a:prstGeom prst="rect">
            <a:avLst/>
          </a:prstGeom>
          <a:solidFill>
            <a:srgbClr val="C8963C">
              <a:alpha val="30000"/>
            </a:srgbClr>
          </a:solidFill>
          <a:ln w="12700">
            <a:solidFill>
              <a:srgbClr val="C8963C">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847088"/>
            <a:ext cx="8961120" cy="12801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Setor Vitivinícola</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40080" y="2990088"/>
            <a:ext cx="896112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0" i="0" u="none" strike="noStrike" kern="1200" cap="none" spc="0" normalizeH="0" baseline="0" noProof="0" dirty="0">
                <a:ln>
                  <a:noFill/>
                </a:ln>
                <a:solidFill>
                  <a:srgbClr val="C9768A"/>
                </a:solidFill>
                <a:effectLst/>
                <a:uLnTx/>
                <a:uFillTx/>
                <a:latin typeface="Georgia" pitchFamily="34" charset="0"/>
                <a:ea typeface="Georgia" pitchFamily="34" charset="-122"/>
                <a:cs typeface="Georgia" pitchFamily="34" charset="-120"/>
              </a:rPr>
              <a:t>do Rio Grande do Sul</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4023360"/>
            <a:ext cx="5029200" cy="36576"/>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4251959"/>
            <a:ext cx="8961120" cy="1252195"/>
          </a:xfrm>
          <a:prstGeom prst="rect">
            <a:avLst/>
          </a:prstGeom>
          <a:noFill/>
          <a:ln/>
        </p:spPr>
        <p:txBody>
          <a:bodyPr wrap="square"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Enzo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9768A"/>
                </a:solidFill>
                <a:effectLst/>
                <a:uLnTx/>
                <a:uFillTx/>
                <a:latin typeface="Calibri" pitchFamily="34" charset="0"/>
                <a:ea typeface="+mn-ea"/>
                <a:cs typeface="Calibri" pitchFamily="34" charset="-120"/>
              </a:rPr>
              <a:t>Leonardo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9768A"/>
                </a:solidFill>
                <a:effectLst/>
                <a:uLnTx/>
                <a:uFillTx/>
                <a:latin typeface="Calibri" pitchFamily="34" charset="0"/>
                <a:ea typeface="+mn-ea"/>
                <a:cs typeface="Calibri" pitchFamily="34" charset="-120"/>
              </a:rPr>
              <a:t>Marcelo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9768A"/>
                </a:solidFill>
                <a:effectLst/>
                <a:uLnTx/>
                <a:uFillTx/>
                <a:latin typeface="Calibri" pitchFamily="34" charset="0"/>
                <a:ea typeface="+mn-ea"/>
                <a:cs typeface="Calibri" pitchFamily="34" charset="-120"/>
              </a:rPr>
              <a:t>Valentina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9768A"/>
                </a:solidFill>
                <a:effectLst/>
                <a:uLnTx/>
                <a:uFillTx/>
                <a:latin typeface="Calibri" pitchFamily="34" charset="0"/>
                <a:ea typeface="+mn-ea"/>
                <a:cs typeface="Calibri" pitchFamily="34" charset="-120"/>
              </a:rPr>
              <a:t>Volmir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6217920"/>
            <a:ext cx="8229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UNISINOS · 2025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D1E3A"/>
                </a:solidFill>
                <a:effectLst/>
                <a:uLnTx/>
                <a:uFillTx/>
                <a:latin typeface="Georgia" pitchFamily="34" charset="0"/>
                <a:ea typeface="Georgia" pitchFamily="34" charset="-122"/>
                <a:cs typeface="Georgia" pitchFamily="34" charset="-120"/>
              </a:rPr>
              <a:t>Estrutura da Análise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Metodologia replicável para análise de cadeias produtivas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508760"/>
            <a:ext cx="356616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508760"/>
            <a:ext cx="109728" cy="173736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58368" y="1673352"/>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6D1E3A"/>
                </a:solidFill>
                <a:effectLst/>
                <a:uLnTx/>
                <a:uFillTx/>
                <a:latin typeface="Georgia" pitchFamily="34" charset="0"/>
                <a:ea typeface="Georgia" pitchFamily="34" charset="-122"/>
                <a:cs typeface="Georgia" pitchFamily="34" charset="-120"/>
              </a:rPr>
              <a:t>01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58368" y="2057400"/>
            <a:ext cx="3246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Matéria-Prima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58368" y="2441448"/>
            <a:ext cx="32461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Produção e preço da uva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Serra Gaúcha e RS vs. Brasil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251960" y="1508760"/>
            <a:ext cx="356616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4251960" y="1508760"/>
            <a:ext cx="109728" cy="1737360"/>
          </a:xfrm>
          <a:prstGeom prst="rect">
            <a:avLst/>
          </a:prstGeom>
          <a:solidFill>
            <a:srgbClr val="9B2E52"/>
          </a:solidFill>
          <a:ln w="12700">
            <a:solidFill>
              <a:srgbClr val="9B2E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453128" y="1673352"/>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9B2E52"/>
                </a:solidFill>
                <a:effectLst/>
                <a:uLnTx/>
                <a:uFillTx/>
                <a:latin typeface="Georgia" pitchFamily="34" charset="0"/>
                <a:ea typeface="Georgia" pitchFamily="34" charset="-122"/>
                <a:cs typeface="Georgia" pitchFamily="34" charset="-120"/>
              </a:rPr>
              <a:t>02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453128" y="2057400"/>
            <a:ext cx="3246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Indústria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453128" y="2441448"/>
            <a:ext cx="32461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Vinícolas gaúchas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Concentração produtiva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8046720" y="1508760"/>
            <a:ext cx="356616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8046720" y="1508760"/>
            <a:ext cx="109728" cy="1737360"/>
          </a:xfrm>
          <a:prstGeom prst="rect">
            <a:avLst/>
          </a:prstGeom>
          <a:solidFill>
            <a:srgbClr val="3D6B45"/>
          </a:solidFill>
          <a:ln w="12700">
            <a:solidFill>
              <a:srgbClr val="3D6B4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8247888" y="1673352"/>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3D6B45"/>
                </a:solidFill>
                <a:effectLst/>
                <a:uLnTx/>
                <a:uFillTx/>
                <a:latin typeface="Georgia" pitchFamily="34" charset="0"/>
                <a:ea typeface="Georgia" pitchFamily="34" charset="-122"/>
                <a:cs typeface="Georgia" pitchFamily="34" charset="-120"/>
              </a:rPr>
              <a:t>03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8247888" y="2057400"/>
            <a:ext cx="3246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Exportação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247888" y="2441448"/>
            <a:ext cx="32461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Posição do RS nas exportações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nacionais de vinho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3474720"/>
            <a:ext cx="356616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3474720"/>
            <a:ext cx="109728" cy="1737360"/>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658368" y="3639312"/>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04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58368" y="4023360"/>
            <a:ext cx="3246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Importação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658368" y="4407408"/>
            <a:ext cx="32461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Concorrência externa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Países, volumes e preços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251960" y="3474720"/>
            <a:ext cx="356616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4251960" y="3474720"/>
            <a:ext cx="109728" cy="1737360"/>
          </a:xfrm>
          <a:prstGeom prst="rect">
            <a:avLst/>
          </a:prstGeom>
          <a:solidFill>
            <a:srgbClr val="C9768A"/>
          </a:solidFill>
          <a:ln w="12700">
            <a:solidFill>
              <a:srgbClr val="C976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4453128" y="3639312"/>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9768A"/>
                </a:solidFill>
                <a:effectLst/>
                <a:uLnTx/>
                <a:uFillTx/>
                <a:latin typeface="Georgia" pitchFamily="34" charset="0"/>
                <a:ea typeface="Georgia" pitchFamily="34" charset="-122"/>
                <a:cs typeface="Georgia" pitchFamily="34" charset="-120"/>
              </a:rPr>
              <a:t>05</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4453128" y="4023360"/>
            <a:ext cx="3246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Impactos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453128" y="4407408"/>
            <a:ext cx="32461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Enchentes · El Niño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Choques exógenos no setor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8046720" y="3474720"/>
            <a:ext cx="356616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8046720" y="3474720"/>
            <a:ext cx="109728" cy="173736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8247888" y="3639312"/>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6D1E3A"/>
                </a:solidFill>
                <a:effectLst/>
                <a:uLnTx/>
                <a:uFillTx/>
                <a:latin typeface="Georgia" pitchFamily="34" charset="0"/>
                <a:ea typeface="Georgia" pitchFamily="34" charset="-122"/>
                <a:cs typeface="Georgia" pitchFamily="34" charset="-120"/>
              </a:rPr>
              <a:t>06</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8247888" y="4023360"/>
            <a:ext cx="3246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Arrecadação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8247888" y="4407408"/>
            <a:ext cx="32461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ICMS do vinho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Impacto fiscal para o 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Sobre o Setor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Vitivinicultura no RS: Produção e Importância Econômica</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65760" y="1143000"/>
            <a:ext cx="2560320" cy="123444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6576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~90%</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Vinho e suco de uva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576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do Brasil produzido no 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00400" y="1143000"/>
            <a:ext cx="2560320" cy="123444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1.100+</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20040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Famílias Aurora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20040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10–15% da uva do estado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1143000"/>
            <a:ext cx="2560320" cy="123444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03504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~80%</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03504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Uvas americanas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Isabel e Bordô — sucos e mesa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869680" y="1143000"/>
            <a:ext cx="2560320" cy="123444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86968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~20%</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6968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Uvas europeias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6968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Merlot, Chardonnay, Cabernet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65760" y="2606040"/>
            <a:ext cx="5303520" cy="39319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365760" y="2606040"/>
            <a:ext cx="5303520" cy="502920"/>
          </a:xfrm>
          <a:prstGeom prst="rect">
            <a:avLst/>
          </a:prstGeom>
          <a:solidFill>
            <a:srgbClr val="9B2E52"/>
          </a:solidFill>
          <a:ln w="12700">
            <a:solidFill>
              <a:srgbClr val="9B2E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548640" y="2651760"/>
            <a:ext cx="4937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 Cadeia Produtiva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48640" y="3246120"/>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itchFamily="34" charset="0"/>
                <a:ea typeface="Calibri" pitchFamily="34" charset="-122"/>
                <a:cs typeface="Calibri" pitchFamily="34" charset="-120"/>
              </a:rPr>
              <a:t>Uvas Americanas (Isabel, Bordô)</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48640" y="3547872"/>
            <a:ext cx="4937760" cy="548640"/>
          </a:xfrm>
          <a:prstGeom prst="rect">
            <a:avLst/>
          </a:prstGeom>
          <a:noFill/>
          <a:ln/>
        </p:spPr>
        <p:txBody>
          <a:bodyPr wrap="square" lIns="0" tIns="0" rIns="0" bIns="0"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Representam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aproximadamente</a:t>
            </a: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 80% da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produção</a:t>
            </a:r>
            <a:endPar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Usadas</a:t>
            </a: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 para sucos e vinhos de mesa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Produto</a:t>
            </a: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 de maior volume e mais acessível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ao</a:t>
            </a: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consumidor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548640" y="4297680"/>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itchFamily="34" charset="0"/>
                <a:ea typeface="Calibri" pitchFamily="34" charset="-122"/>
                <a:cs typeface="Calibri" pitchFamily="34" charset="-120"/>
              </a:rPr>
              <a:t>Uvas Europeias (Merlot, Chardonnay, Cabernet)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48640" y="4599432"/>
            <a:ext cx="4937760" cy="548640"/>
          </a:xfrm>
          <a:prstGeom prst="rect">
            <a:avLst/>
          </a:prstGeom>
          <a:noFill/>
          <a:ln/>
        </p:spPr>
        <p:txBody>
          <a:bodyPr wrap="square" lIns="0" tIns="0" rIns="0" bIns="0"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Representam ~20% da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produção</a:t>
            </a:r>
            <a:endPar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São a base dos vinhos finos e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espumantes</a:t>
            </a:r>
            <a:endPar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Produtos</a:t>
            </a: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 de maior valor agregado e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potencial</a:t>
            </a: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err="1">
                <a:ln>
                  <a:noFill/>
                </a:ln>
                <a:solidFill>
                  <a:srgbClr val="1A1A2E"/>
                </a:solidFill>
                <a:effectLst/>
                <a:uLnTx/>
                <a:uFillTx/>
                <a:latin typeface="Calibri" pitchFamily="34" charset="0"/>
                <a:ea typeface="Calibri" pitchFamily="34" charset="-122"/>
                <a:cs typeface="Calibri" pitchFamily="34" charset="-120"/>
              </a:rPr>
              <a:t>exportador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548640" y="5349240"/>
            <a:ext cx="4937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itchFamily="34" charset="0"/>
                <a:ea typeface="Calibri" pitchFamily="34" charset="-122"/>
                <a:cs typeface="Calibri" pitchFamily="34" charset="-120"/>
              </a:rPr>
              <a:t>Cooperativa Aurora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548640" y="5650992"/>
            <a:ext cx="4937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Maior cooperativa do setor, reúne mais de 1.100 famílias e processa entre 10–15% de toda a uva do RS, garantindo renda e mercado para pequenos produtores.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989320" y="2606040"/>
            <a:ext cx="5806440" cy="18288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5989320" y="2606040"/>
            <a:ext cx="5806440" cy="502920"/>
          </a:xfrm>
          <a:prstGeom prst="rect">
            <a:avLst/>
          </a:prstGeom>
          <a:solidFill>
            <a:srgbClr val="3D6B45"/>
          </a:solidFill>
          <a:ln w="12700">
            <a:solidFill>
              <a:srgbClr val="3D6B4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6172200" y="2651760"/>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FFFFFF"/>
                </a:solidFill>
                <a:effectLst/>
                <a:uLnTx/>
                <a:uFillTx/>
                <a:latin typeface="Georgia" pitchFamily="34" charset="0"/>
                <a:ea typeface="Georgia" pitchFamily="34" charset="-122"/>
                <a:cs typeface="Georgia" pitchFamily="34" charset="-120"/>
              </a:rPr>
              <a:t>Indicações</a:t>
            </a:r>
            <a:r>
              <a:rPr kumimoji="0" lang="en-US" sz="13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 Geográficas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6172200" y="3200400"/>
            <a:ext cx="539496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Regiões como o Vale dos Vinhedos e Pinto Bandeira possuem selos de origem que certificam que os produtos foram feitos ali, seguindo padrões de qualidade reconhecidos nacionalmente. As IGs são um dos principais instrumentos de valorização do vinho gaúcho frente à concorrência estrangeira.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5989320" y="4663440"/>
            <a:ext cx="5806440" cy="18745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5989320" y="4663440"/>
            <a:ext cx="5806440" cy="502920"/>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6172200" y="4709160"/>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FFFFFF"/>
                </a:solidFill>
                <a:effectLst/>
                <a:uLnTx/>
                <a:uFillTx/>
                <a:latin typeface="Georgia" pitchFamily="34" charset="0"/>
                <a:ea typeface="Georgia" pitchFamily="34" charset="-122"/>
                <a:cs typeface="Georgia" pitchFamily="34" charset="-120"/>
              </a:rPr>
              <a:t>Enoturismo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6172200" y="5257800"/>
            <a:ext cx="5394960" cy="114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A produção de vinho atrai milhares de visitantes por ano para a Serra Gaúcha. O enoturismo gera renda adicional para as famílias produtoras e fortalece a marca do vinho gaúcho, conectando o consumidor diretamente à origem do produto.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C586D8FC-ADB4-8BC1-46D8-880F0A1003A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4152" t="15578" r="21077" b="8852"/>
          <a:stretch>
            <a:fillRect/>
          </a:stretch>
        </p:blipFill>
        <p:spPr>
          <a:xfrm>
            <a:off x="6463817" y="1530626"/>
            <a:ext cx="4601818" cy="3796748"/>
          </a:xfrm>
          <a:prstGeom prst="rect">
            <a:avLst/>
          </a:prstGeom>
        </p:spPr>
      </p:pic>
    </p:spTree>
    <p:extLst>
      <p:ext uri="{BB962C8B-B14F-4D97-AF65-F5344CB8AC3E}">
        <p14:creationId xmlns:p14="http://schemas.microsoft.com/office/powerpoint/2010/main" val="1858010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01 · Matéria-Prima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Produção de Uva no RS e no Brasil</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65760" y="1188720"/>
            <a:ext cx="2560320" cy="118872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65760" y="1261872"/>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904.794 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Pico RS (2023)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5760" y="2048256"/>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+23% vs 2022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00400" y="1188720"/>
            <a:ext cx="2560320" cy="118872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1261872"/>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81,2%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20040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Serra Gaúcha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200400" y="2048256"/>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da produção 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1188720"/>
            <a:ext cx="2560320" cy="118872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035040" y="1261872"/>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50,7%</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03504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RS no Brasil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2048256"/>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em 2022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869680" y="1188720"/>
            <a:ext cx="2560320" cy="118872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869680" y="1261872"/>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686.651 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6968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Produção 2024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69680" y="2048256"/>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 Queda pós-enchentes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1" name="Chart 0"/>
          <p:cNvGraphicFramePr/>
          <p:nvPr/>
        </p:nvGraphicFramePr>
        <p:xfrm>
          <a:off x="365760" y="2606040"/>
          <a:ext cx="548640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Gráfico 25">
            <a:extLst>
              <a:ext uri="{FF2B5EF4-FFF2-40B4-BE49-F238E27FC236}">
                <a16:creationId xmlns:a16="http://schemas.microsoft.com/office/drawing/2014/main" id="{4B9A19B2-866B-8A58-72EE-CD02A53CDEED}"/>
              </a:ext>
            </a:extLst>
          </p:cNvPr>
          <p:cNvGraphicFramePr>
            <a:graphicFrameLocks/>
          </p:cNvGraphicFramePr>
          <p:nvPr/>
        </p:nvGraphicFramePr>
        <p:xfrm>
          <a:off x="6217920" y="2602636"/>
          <a:ext cx="5577840" cy="3383279"/>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01 · Matéria-Prima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Top Municípios Produtores — Serra Gaúcha (2024)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Chart 0"/>
          <p:cNvGraphicFramePr/>
          <p:nvPr/>
        </p:nvGraphicFramePr>
        <p:xfrm>
          <a:off x="365760" y="1188720"/>
          <a:ext cx="7132320" cy="5212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188720"/>
            <a:ext cx="4023360" cy="1889760"/>
          </a:xfrm>
          <a:prstGeom prst="rect">
            <a:avLst/>
          </a:prstGeom>
          <a:solidFill>
            <a:srgbClr val="6D1E3A"/>
          </a:solidFill>
          <a:ln w="12700">
            <a:solidFill>
              <a:srgbClr val="6D1E3A"/>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7909560" y="1325880"/>
            <a:ext cx="37490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Concentração Produtiva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909560" y="1554480"/>
            <a:ext cx="374904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Flores da Cunha </a:t>
            </a:r>
            <a:r>
              <a:rPr kumimoji="0" lang="en-US" sz="1200" b="0" i="0" u="none" strike="noStrike" kern="1200" cap="none" spc="0" normalizeH="0" baseline="0" noProof="0" dirty="0" err="1">
                <a:ln>
                  <a:noFill/>
                </a:ln>
                <a:solidFill>
                  <a:srgbClr val="F7F0E6"/>
                </a:solidFill>
                <a:effectLst/>
                <a:uLnTx/>
                <a:uFillTx/>
                <a:latin typeface="Calibri" pitchFamily="34" charset="0"/>
                <a:ea typeface="Calibri" pitchFamily="34" charset="-122"/>
                <a:cs typeface="Calibri" pitchFamily="34" charset="-120"/>
              </a:rPr>
              <a:t>lidera</a:t>
            </a: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 </a:t>
            </a:r>
            <a:r>
              <a:rPr kumimoji="0" lang="en-US" sz="1200" b="0" i="0" u="none" strike="noStrike" kern="1200" cap="none" spc="0" normalizeH="0" baseline="0" noProof="0" dirty="0" err="1">
                <a:ln>
                  <a:noFill/>
                </a:ln>
                <a:solidFill>
                  <a:srgbClr val="F7F0E6"/>
                </a:solidFill>
                <a:effectLst/>
                <a:uLnTx/>
                <a:uFillTx/>
                <a:latin typeface="Calibri" pitchFamily="34" charset="0"/>
                <a:ea typeface="Calibri" pitchFamily="34" charset="-122"/>
                <a:cs typeface="Calibri" pitchFamily="34" charset="-120"/>
              </a:rPr>
              <a:t>em</a:t>
            </a: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 2024, </a:t>
            </a:r>
            <a:r>
              <a:rPr kumimoji="0" lang="en-US" sz="1200" b="0" i="0" u="none" strike="noStrike" kern="1200" cap="none" spc="0" normalizeH="0" baseline="0" noProof="0" dirty="0" err="1">
                <a:ln>
                  <a:noFill/>
                </a:ln>
                <a:solidFill>
                  <a:srgbClr val="F7F0E6"/>
                </a:solidFill>
                <a:effectLst/>
                <a:uLnTx/>
                <a:uFillTx/>
                <a:latin typeface="Calibri" pitchFamily="34" charset="0"/>
                <a:ea typeface="Calibri" pitchFamily="34" charset="-122"/>
                <a:cs typeface="Calibri" pitchFamily="34" charset="-120"/>
              </a:rPr>
              <a:t>sozinha</a:t>
            </a: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 responde por ~21% da Serra.
</a:t>
            </a:r>
            <a:r>
              <a:rPr kumimoji="0" lang="en-US" sz="1200" b="1" i="0" u="none" strike="noStrike" kern="1200" cap="none" spc="0" normalizeH="0" baseline="0" noProof="0" dirty="0">
                <a:ln>
                  <a:noFill/>
                </a:ln>
                <a:solidFill>
                  <a:srgbClr val="C8963C"/>
                </a:solidFill>
                <a:effectLst/>
                <a:uLnTx/>
                <a:uFillTx/>
                <a:latin typeface="Calibri" pitchFamily="34" charset="0"/>
                <a:ea typeface="Calibri" pitchFamily="34" charset="-122"/>
                <a:cs typeface="Calibri" pitchFamily="34" charset="-120"/>
              </a:rPr>
              <a:t>5 municípios</a:t>
            </a: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 concentram mais de </a:t>
            </a:r>
            <a:r>
              <a:rPr kumimoji="0" lang="en-US" sz="1200" b="1" i="0" u="none" strike="noStrike" kern="1200" cap="none" spc="0" normalizeH="0" baseline="0" noProof="0" dirty="0">
                <a:ln>
                  <a:noFill/>
                </a:ln>
                <a:solidFill>
                  <a:srgbClr val="C8963C"/>
                </a:solidFill>
                <a:effectLst/>
                <a:uLnTx/>
                <a:uFillTx/>
                <a:latin typeface="Calibri" pitchFamily="34" charset="0"/>
                <a:ea typeface="Calibri" pitchFamily="34" charset="-122"/>
                <a:cs typeface="Calibri" pitchFamily="34" charset="-120"/>
              </a:rPr>
              <a:t>65%</a:t>
            </a: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 da produção total da Serra Gaúcha.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Imagem 11">
            <a:extLst>
              <a:ext uri="{FF2B5EF4-FFF2-40B4-BE49-F238E27FC236}">
                <a16:creationId xmlns:a16="http://schemas.microsoft.com/office/drawing/2014/main" id="{F43F16FC-F178-6579-9072-A98A4FF3CDF1}"/>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4152" t="15578" r="21077" b="8852"/>
          <a:stretch>
            <a:fillRect/>
          </a:stretch>
        </p:blipFill>
        <p:spPr>
          <a:xfrm>
            <a:off x="7909560" y="3429000"/>
            <a:ext cx="3669155" cy="30272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C16AD2-844B-5678-038B-E2134DF14BA7}"/>
            </a:ext>
          </a:extLst>
        </p:cNvPr>
        <p:cNvGrpSpPr/>
        <p:nvPr/>
      </p:nvGrpSpPr>
      <p:grpSpPr>
        <a:xfrm>
          <a:off x="0" y="0"/>
          <a:ext cx="0" cy="0"/>
          <a:chOff x="0" y="0"/>
          <a:chExt cx="0" cy="0"/>
        </a:xfrm>
      </p:grpSpPr>
      <p:pic>
        <p:nvPicPr>
          <p:cNvPr id="2" name="Imagem 1">
            <a:extLst>
              <a:ext uri="{FF2B5EF4-FFF2-40B4-BE49-F238E27FC236}">
                <a16:creationId xmlns:a16="http://schemas.microsoft.com/office/drawing/2014/main" id="{874C8DC5-AD8E-E0DB-0573-D9AAA5AD8B85}"/>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0283" t="8975" r="24169" b="13489"/>
          <a:stretch>
            <a:fillRect/>
          </a:stretch>
        </p:blipFill>
        <p:spPr>
          <a:xfrm>
            <a:off x="5958509" y="660400"/>
            <a:ext cx="5387008" cy="5317436"/>
          </a:xfrm>
          <a:prstGeom prst="rect">
            <a:avLst/>
          </a:prstGeom>
        </p:spPr>
      </p:pic>
    </p:spTree>
    <p:extLst>
      <p:ext uri="{BB962C8B-B14F-4D97-AF65-F5344CB8AC3E}">
        <p14:creationId xmlns:p14="http://schemas.microsoft.com/office/powerpoint/2010/main" val="43843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3D6B45"/>
          </a:solidFill>
          <a:ln w="12700">
            <a:solidFill>
              <a:srgbClr val="3D6B4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8D5B5"/>
                </a:solidFill>
                <a:effectLst/>
                <a:uLnTx/>
                <a:uFillTx/>
                <a:latin typeface="Calibri" pitchFamily="34" charset="0"/>
                <a:ea typeface="Calibri" pitchFamily="34" charset="-122"/>
                <a:cs typeface="Calibri" pitchFamily="34" charset="-120"/>
              </a:rPr>
              <a:t>03 · Exportação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RS domina as exportações brasileiras de vinho</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65760" y="1143000"/>
            <a:ext cx="2560320" cy="1234440"/>
          </a:xfrm>
          <a:prstGeom prst="rect">
            <a:avLst/>
          </a:prstGeom>
          <a:solidFill>
            <a:srgbClr val="3D6B45"/>
          </a:solidFill>
          <a:ln w="12700">
            <a:solidFill>
              <a:srgbClr val="3D6B45"/>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6576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8D5B5"/>
                </a:solidFill>
                <a:effectLst/>
                <a:uLnTx/>
                <a:uFillTx/>
                <a:latin typeface="Georgia" pitchFamily="34" charset="0"/>
                <a:ea typeface="Georgia" pitchFamily="34" charset="-122"/>
                <a:cs typeface="Georgia" pitchFamily="34" charset="-120"/>
              </a:rPr>
              <a:t>~85%</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Participação 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576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D5B5"/>
                </a:solidFill>
                <a:effectLst/>
                <a:uLnTx/>
                <a:uFillTx/>
                <a:latin typeface="Calibri" pitchFamily="34" charset="0"/>
                <a:ea typeface="Calibri" pitchFamily="34" charset="-122"/>
                <a:cs typeface="Calibri" pitchFamily="34" charset="-120"/>
              </a:rPr>
              <a:t>nas exportações BR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00400" y="1143000"/>
            <a:ext cx="2560320" cy="1234440"/>
          </a:xfrm>
          <a:prstGeom prst="rect">
            <a:avLst/>
          </a:prstGeom>
          <a:solidFill>
            <a:srgbClr val="3D6B45"/>
          </a:solidFill>
          <a:ln w="12700">
            <a:solidFill>
              <a:srgbClr val="3D6B45"/>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8D5B5"/>
                </a:solidFill>
                <a:effectLst/>
                <a:uLnTx/>
                <a:uFillTx/>
                <a:latin typeface="Georgia" pitchFamily="34" charset="0"/>
                <a:ea typeface="Georgia" pitchFamily="34" charset="-122"/>
                <a:cs typeface="Georgia" pitchFamily="34" charset="-120"/>
              </a:rPr>
              <a:t>U$ 12,5Mi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20040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Pico 2022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20040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D5B5"/>
                </a:solidFill>
                <a:effectLst/>
                <a:uLnTx/>
                <a:uFillTx/>
                <a:latin typeface="Calibri" pitchFamily="34" charset="0"/>
                <a:ea typeface="Calibri" pitchFamily="34" charset="-122"/>
                <a:cs typeface="Calibri" pitchFamily="34" charset="-120"/>
              </a:rPr>
              <a:t>Valor FOB exportado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1143000"/>
            <a:ext cx="2560320" cy="1234440"/>
          </a:xfrm>
          <a:prstGeom prst="rect">
            <a:avLst/>
          </a:prstGeom>
          <a:solidFill>
            <a:srgbClr val="3D6B45"/>
          </a:solidFill>
          <a:ln w="12700">
            <a:solidFill>
              <a:srgbClr val="3D6B45"/>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03504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8D5B5"/>
                </a:solidFill>
                <a:effectLst/>
                <a:uLnTx/>
                <a:uFillTx/>
                <a:latin typeface="Georgia" pitchFamily="34" charset="0"/>
                <a:ea typeface="Georgia" pitchFamily="34" charset="-122"/>
                <a:cs typeface="Georgia" pitchFamily="34" charset="-120"/>
              </a:rPr>
              <a:t>U$ 11,6Mi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03504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Recuperação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D5B5"/>
                </a:solidFill>
                <a:effectLst/>
                <a:uLnTx/>
                <a:uFillTx/>
                <a:latin typeface="Calibri" pitchFamily="34" charset="0"/>
                <a:ea typeface="Calibri" pitchFamily="34" charset="-122"/>
                <a:cs typeface="Calibri" pitchFamily="34" charset="-120"/>
              </a:rPr>
              <a:t>2025 vs 2023–2024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869680" y="1143000"/>
            <a:ext cx="2560320" cy="1234440"/>
          </a:xfrm>
          <a:prstGeom prst="rect">
            <a:avLst/>
          </a:prstGeom>
          <a:solidFill>
            <a:srgbClr val="3D6B45"/>
          </a:solidFill>
          <a:ln w="12700">
            <a:solidFill>
              <a:srgbClr val="3D6B45"/>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86968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8D5B5"/>
                </a:solidFill>
                <a:effectLst/>
                <a:uLnTx/>
                <a:uFillTx/>
                <a:latin typeface="Georgia" pitchFamily="34" charset="0"/>
                <a:ea typeface="Georgia" pitchFamily="34" charset="-122"/>
                <a:cs typeface="Georgia" pitchFamily="34" charset="-120"/>
              </a:rPr>
              <a:t>U$ 1,84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6968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Preço médio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6968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D5B5"/>
                </a:solidFill>
                <a:effectLst/>
                <a:uLnTx/>
                <a:uFillTx/>
                <a:latin typeface="Calibri" pitchFamily="34" charset="0"/>
                <a:ea typeface="Calibri" pitchFamily="34" charset="-122"/>
                <a:cs typeface="Calibri" pitchFamily="34" charset="-120"/>
              </a:rPr>
              <a:t>por litro exportado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1" name="Chart 0"/>
          <p:cNvGraphicFramePr/>
          <p:nvPr/>
        </p:nvGraphicFramePr>
        <p:xfrm>
          <a:off x="365760" y="2560320"/>
          <a:ext cx="5943600" cy="3474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1"/>
          <p:cNvGraphicFramePr/>
          <p:nvPr/>
        </p:nvGraphicFramePr>
        <p:xfrm>
          <a:off x="6583680" y="2560320"/>
          <a:ext cx="5212080" cy="34747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04 · Importação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 </a:t>
            </a:r>
            <a:r>
              <a:rPr kumimoji="0" lang="en-US" sz="2200" b="1" i="0" u="none" strike="noStrike" kern="1200" cap="none" spc="0" normalizeH="0" baseline="0" noProof="0" dirty="0" err="1">
                <a:ln>
                  <a:noFill/>
                </a:ln>
                <a:solidFill>
                  <a:srgbClr val="FFFFFF"/>
                </a:solidFill>
                <a:effectLst/>
                <a:uLnTx/>
                <a:uFillTx/>
                <a:latin typeface="Georgia" pitchFamily="34" charset="0"/>
                <a:ea typeface="Georgia" pitchFamily="34" charset="-122"/>
                <a:cs typeface="Georgia" pitchFamily="34" charset="-120"/>
              </a:rPr>
              <a:t>concorrência</a:t>
            </a: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 externa — </a:t>
            </a:r>
            <a:r>
              <a:rPr kumimoji="0" lang="en-US" sz="2200" b="1" i="0" u="none" strike="noStrike" kern="1200" cap="none" spc="0" normalizeH="0" baseline="0" noProof="0" dirty="0" err="1">
                <a:ln>
                  <a:noFill/>
                </a:ln>
                <a:solidFill>
                  <a:srgbClr val="FFFFFF"/>
                </a:solidFill>
                <a:effectLst/>
                <a:uLnTx/>
                <a:uFillTx/>
                <a:latin typeface="Georgia" pitchFamily="34" charset="0"/>
                <a:ea typeface="Georgia" pitchFamily="34" charset="-122"/>
                <a:cs typeface="Georgia" pitchFamily="34" charset="-120"/>
              </a:rPr>
              <a:t>quem</a:t>
            </a: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 e </a:t>
            </a:r>
            <a:r>
              <a:rPr kumimoji="0" lang="en-US" sz="2200" b="1" i="0" u="none" strike="noStrike" kern="1200" cap="none" spc="0" normalizeH="0" baseline="0" noProof="0" dirty="0" err="1">
                <a:ln>
                  <a:noFill/>
                </a:ln>
                <a:solidFill>
                  <a:srgbClr val="FFFFFF"/>
                </a:solidFill>
                <a:effectLst/>
                <a:uLnTx/>
                <a:uFillTx/>
                <a:latin typeface="Georgia" pitchFamily="34" charset="0"/>
                <a:ea typeface="Georgia" pitchFamily="34" charset="-122"/>
                <a:cs typeface="Georgia" pitchFamily="34" charset="-120"/>
              </a:rPr>
              <a:t>quanto</a:t>
            </a: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 o </a:t>
            </a:r>
            <a:r>
              <a:rPr kumimoji="0" lang="en-US" sz="2200" b="1" i="0" u="none" strike="noStrike" kern="1200" cap="none" spc="0" normalizeH="0" baseline="0" noProof="0" dirty="0" err="1">
                <a:ln>
                  <a:noFill/>
                </a:ln>
                <a:solidFill>
                  <a:srgbClr val="FFFFFF"/>
                </a:solidFill>
                <a:effectLst/>
                <a:uLnTx/>
                <a:uFillTx/>
                <a:latin typeface="Georgia" pitchFamily="34" charset="0"/>
                <a:ea typeface="Georgia" pitchFamily="34" charset="-122"/>
                <a:cs typeface="Georgia" pitchFamily="34" charset="-120"/>
              </a:rPr>
              <a:t>Brasil</a:t>
            </a: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 </a:t>
            </a:r>
            <a:r>
              <a:rPr kumimoji="0" lang="en-US" sz="2200" b="1" i="0" u="none" strike="noStrike" kern="1200" cap="none" spc="0" normalizeH="0" baseline="0" noProof="0" dirty="0" err="1">
                <a:ln>
                  <a:noFill/>
                </a:ln>
                <a:solidFill>
                  <a:srgbClr val="FFFFFF"/>
                </a:solidFill>
                <a:effectLst/>
                <a:uLnTx/>
                <a:uFillTx/>
                <a:latin typeface="Georgia" pitchFamily="34" charset="0"/>
                <a:ea typeface="Georgia" pitchFamily="34" charset="-122"/>
                <a:cs typeface="Georgia" pitchFamily="34" charset="-120"/>
              </a:rPr>
              <a:t>importa</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65760" y="1143000"/>
            <a:ext cx="2560320" cy="1234440"/>
          </a:xfrm>
          <a:prstGeom prst="rect">
            <a:avLst/>
          </a:prstGeom>
          <a:solidFill>
            <a:srgbClr val="C8963C"/>
          </a:solidFill>
          <a:ln w="12700">
            <a:solidFill>
              <a:srgbClr val="C8963C"/>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6576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U$ 213 Mi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Chile (2025)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576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Maior fornecedor (+15% vs 2022)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00400" y="1143000"/>
            <a:ext cx="2560320" cy="1234440"/>
          </a:xfrm>
          <a:prstGeom prst="rect">
            <a:avLst/>
          </a:prstGeom>
          <a:solidFill>
            <a:srgbClr val="C8963C"/>
          </a:solidFill>
          <a:ln w="12700">
            <a:solidFill>
              <a:srgbClr val="C8963C"/>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U$ 3,37</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20040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Preço médio geral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20040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USD/litro importado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1143000"/>
            <a:ext cx="2560320" cy="1234440"/>
          </a:xfrm>
          <a:prstGeom prst="rect">
            <a:avLst/>
          </a:prstGeom>
          <a:solidFill>
            <a:srgbClr val="C8963C"/>
          </a:solidFill>
          <a:ln w="12700">
            <a:solidFill>
              <a:srgbClr val="C8963C"/>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03504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U$ 9,27</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03504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França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Premium — maior preço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869680" y="1143000"/>
            <a:ext cx="2560320" cy="1234440"/>
          </a:xfrm>
          <a:prstGeom prst="rect">
            <a:avLst/>
          </a:prstGeom>
          <a:solidFill>
            <a:srgbClr val="C8963C"/>
          </a:solidFill>
          <a:ln w="12700">
            <a:solidFill>
              <a:srgbClr val="C8963C"/>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86968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U$ 2,73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6968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Chile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6968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Segmento entrada/popular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1" name="Chart 0"/>
          <p:cNvGraphicFramePr/>
          <p:nvPr/>
        </p:nvGraphicFramePr>
        <p:xfrm>
          <a:off x="365760" y="2560320"/>
          <a:ext cx="685800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Table 0"/>
          <p:cNvGraphicFramePr>
            <a:graphicFrameLocks noGrp="1"/>
          </p:cNvGraphicFramePr>
          <p:nvPr/>
        </p:nvGraphicFramePr>
        <p:xfrm>
          <a:off x="7498080" y="2560320"/>
          <a:ext cx="4297680" cy="3511296"/>
        </p:xfrm>
        <a:graphic>
          <a:graphicData uri="http://schemas.openxmlformats.org/drawingml/2006/table">
            <a:tbl>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3891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País</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6D1E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Preço Médio 2025 (US$/L)</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6D1E3A"/>
                    </a:solidFill>
                  </a:tcPr>
                </a:tc>
                <a:extLst>
                  <a:ext uri="{0D108BD9-81ED-4DB2-BD59-A6C34878D82A}">
                    <a16:rowId xmlns:a16="http://schemas.microsoft.com/office/drawing/2014/main" val="10000"/>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França</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9,27 ↑</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Itália</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4,56 ↑</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África do Sul</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3,61 ↑</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Argentina</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3,60 ↑</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Portugal</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3,04 ↑</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Chile</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2,73 →</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293600" cy="1005840"/>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04 · Importação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Analise com SVR dos NCM</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6576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U$ 213 Mi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576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Maior fornecedor (+15% vs 2022)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U$ 3,37</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20040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20040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USD/litro importado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03504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U$ 9,27</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03504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760720" y="2084832"/>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Premium — maior preço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86968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U$ 2,73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6968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6968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Segmento entrada/popular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4" name="Imagem 23">
            <a:extLst>
              <a:ext uri="{FF2B5EF4-FFF2-40B4-BE49-F238E27FC236}">
                <a16:creationId xmlns:a16="http://schemas.microsoft.com/office/drawing/2014/main" id="{0924DC5F-F4EE-47C9-8079-206D95EF50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 y="1051560"/>
            <a:ext cx="5797282" cy="2816341"/>
          </a:xfrm>
          <a:prstGeom prst="rect">
            <a:avLst/>
          </a:prstGeom>
        </p:spPr>
      </p:pic>
      <p:pic>
        <p:nvPicPr>
          <p:cNvPr id="26" name="Imagem 25">
            <a:extLst>
              <a:ext uri="{FF2B5EF4-FFF2-40B4-BE49-F238E27FC236}">
                <a16:creationId xmlns:a16="http://schemas.microsoft.com/office/drawing/2014/main" id="{B959BBB8-B49B-4775-9E30-5AAB72E1F5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959358"/>
            <a:ext cx="5797284" cy="2898642"/>
          </a:xfrm>
          <a:prstGeom prst="rect">
            <a:avLst/>
          </a:prstGeom>
        </p:spPr>
      </p:pic>
      <p:pic>
        <p:nvPicPr>
          <p:cNvPr id="28" name="Imagem 27">
            <a:extLst>
              <a:ext uri="{FF2B5EF4-FFF2-40B4-BE49-F238E27FC236}">
                <a16:creationId xmlns:a16="http://schemas.microsoft.com/office/drawing/2014/main" id="{88DB06AA-8910-40B2-93C1-BF2D35F824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8228" y="1051560"/>
            <a:ext cx="5923292" cy="2907798"/>
          </a:xfrm>
          <a:prstGeom prst="rect">
            <a:avLst/>
          </a:prstGeom>
        </p:spPr>
      </p:pic>
      <p:pic>
        <p:nvPicPr>
          <p:cNvPr id="34" name="Imagem 33">
            <a:extLst>
              <a:ext uri="{FF2B5EF4-FFF2-40B4-BE49-F238E27FC236}">
                <a16:creationId xmlns:a16="http://schemas.microsoft.com/office/drawing/2014/main" id="{71BD9ED2-B72F-4331-880F-91C1167F13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867900"/>
            <a:ext cx="6004571" cy="2990099"/>
          </a:xfrm>
          <a:prstGeom prst="rect">
            <a:avLst/>
          </a:prstGeom>
        </p:spPr>
      </p:pic>
    </p:spTree>
    <p:extLst>
      <p:ext uri="{BB962C8B-B14F-4D97-AF65-F5344CB8AC3E}">
        <p14:creationId xmlns:p14="http://schemas.microsoft.com/office/powerpoint/2010/main" val="169507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04 · Importação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Analise com SVR dos NCM</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6576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U$ 213 Mi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U$ 3,37</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20040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USD/litro importado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03504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U$ 9,27</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03504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Premium — maior preço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320540" y="142951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U$ 273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6968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Segmento entrada/popular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CaixaDeTexto 23">
            <a:extLst>
              <a:ext uri="{FF2B5EF4-FFF2-40B4-BE49-F238E27FC236}">
                <a16:creationId xmlns:a16="http://schemas.microsoft.com/office/drawing/2014/main" id="{A9D3E440-C673-41BF-81F4-1C3B252A4B7A}"/>
              </a:ext>
            </a:extLst>
          </p:cNvPr>
          <p:cNvSpPr txBox="1"/>
          <p:nvPr/>
        </p:nvSpPr>
        <p:spPr>
          <a:xfrm>
            <a:off x="3042285" y="3240524"/>
            <a:ext cx="609981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Analise com SVR dos NCM</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5" name="Tabela 24">
            <a:extLst>
              <a:ext uri="{FF2B5EF4-FFF2-40B4-BE49-F238E27FC236}">
                <a16:creationId xmlns:a16="http://schemas.microsoft.com/office/drawing/2014/main" id="{1273B9A8-1C5E-43E7-831C-F9CF66B6C03E}"/>
              </a:ext>
            </a:extLst>
          </p:cNvPr>
          <p:cNvGraphicFramePr>
            <a:graphicFrameLocks noGrp="1"/>
          </p:cNvGraphicFramePr>
          <p:nvPr>
            <p:extLst>
              <p:ext uri="{D42A27DB-BD31-4B8C-83A1-F6EECF244321}">
                <p14:modId xmlns:p14="http://schemas.microsoft.com/office/powerpoint/2010/main" val="1744445966"/>
              </p:ext>
            </p:extLst>
          </p:nvPr>
        </p:nvGraphicFramePr>
        <p:xfrm>
          <a:off x="365760" y="1417316"/>
          <a:ext cx="4499202" cy="4859196"/>
        </p:xfrm>
        <a:graphic>
          <a:graphicData uri="http://schemas.openxmlformats.org/drawingml/2006/table">
            <a:tbl>
              <a:tblPr/>
              <a:tblGrid>
                <a:gridCol w="1036379">
                  <a:extLst>
                    <a:ext uri="{9D8B030D-6E8A-4147-A177-3AD203B41FA5}">
                      <a16:colId xmlns:a16="http://schemas.microsoft.com/office/drawing/2014/main" val="2089979615"/>
                    </a:ext>
                  </a:extLst>
                </a:gridCol>
                <a:gridCol w="1126857">
                  <a:extLst>
                    <a:ext uri="{9D8B030D-6E8A-4147-A177-3AD203B41FA5}">
                      <a16:colId xmlns:a16="http://schemas.microsoft.com/office/drawing/2014/main" val="2624495533"/>
                    </a:ext>
                  </a:extLst>
                </a:gridCol>
                <a:gridCol w="929451">
                  <a:extLst>
                    <a:ext uri="{9D8B030D-6E8A-4147-A177-3AD203B41FA5}">
                      <a16:colId xmlns:a16="http://schemas.microsoft.com/office/drawing/2014/main" val="2185812220"/>
                    </a:ext>
                  </a:extLst>
                </a:gridCol>
                <a:gridCol w="1406515">
                  <a:extLst>
                    <a:ext uri="{9D8B030D-6E8A-4147-A177-3AD203B41FA5}">
                      <a16:colId xmlns:a16="http://schemas.microsoft.com/office/drawing/2014/main" val="1120082194"/>
                    </a:ext>
                  </a:extLst>
                </a:gridCol>
              </a:tblGrid>
              <a:tr h="809866">
                <a:tc>
                  <a:txBody>
                    <a:bodyPr/>
                    <a:lstStyle/>
                    <a:p>
                      <a:pPr rtl="0" fontAlgn="ctr">
                        <a:spcBef>
                          <a:spcPts val="0"/>
                        </a:spcBef>
                        <a:spcAft>
                          <a:spcPts val="0"/>
                        </a:spcAft>
                      </a:pPr>
                      <a:r>
                        <a:rPr lang="pt-BR" sz="1125" b="1" i="0" u="none" strike="noStrike">
                          <a:solidFill>
                            <a:srgbClr val="5C1329"/>
                          </a:solidFill>
                          <a:effectLst/>
                          <a:latin typeface="Plus Jakarta Sans"/>
                        </a:rPr>
                        <a:t>NCM Analisado</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7F2EC"/>
                    </a:solidFill>
                  </a:tcPr>
                </a:tc>
                <a:tc>
                  <a:txBody>
                    <a:bodyPr/>
                    <a:lstStyle/>
                    <a:p>
                      <a:pPr rtl="0" fontAlgn="ctr">
                        <a:spcBef>
                          <a:spcPts val="0"/>
                        </a:spcBef>
                        <a:spcAft>
                          <a:spcPts val="0"/>
                        </a:spcAft>
                      </a:pPr>
                      <a:r>
                        <a:rPr lang="pt-BR" sz="1125" b="1" i="0" u="none" strike="noStrike">
                          <a:solidFill>
                            <a:srgbClr val="5C1329"/>
                          </a:solidFill>
                          <a:effectLst/>
                          <a:latin typeface="Plus Jakarta Sans"/>
                        </a:rPr>
                        <a:t>Categoria</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7F2EC"/>
                    </a:solidFill>
                  </a:tcPr>
                </a:tc>
                <a:tc>
                  <a:txBody>
                    <a:bodyPr/>
                    <a:lstStyle/>
                    <a:p>
                      <a:pPr rtl="0" fontAlgn="ctr">
                        <a:spcBef>
                          <a:spcPts val="0"/>
                        </a:spcBef>
                        <a:spcAft>
                          <a:spcPts val="0"/>
                        </a:spcAft>
                      </a:pPr>
                      <a:r>
                        <a:rPr lang="pt-BR" sz="1125" b="1" i="0" u="none" strike="noStrike">
                          <a:solidFill>
                            <a:srgbClr val="5C1329"/>
                          </a:solidFill>
                          <a:effectLst/>
                          <a:latin typeface="Plus Jakarta Sans"/>
                        </a:rPr>
                        <a:t>Impacto (%)</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7F2EC"/>
                    </a:solidFill>
                  </a:tcPr>
                </a:tc>
                <a:tc>
                  <a:txBody>
                    <a:bodyPr/>
                    <a:lstStyle/>
                    <a:p>
                      <a:pPr rtl="0" fontAlgn="ctr">
                        <a:spcBef>
                          <a:spcPts val="0"/>
                        </a:spcBef>
                        <a:spcAft>
                          <a:spcPts val="0"/>
                        </a:spcAft>
                      </a:pPr>
                      <a:r>
                        <a:rPr lang="pt-BR" sz="1125" b="1" i="0" u="none" strike="noStrike">
                          <a:solidFill>
                            <a:srgbClr val="5C1329"/>
                          </a:solidFill>
                          <a:effectLst/>
                          <a:latin typeface="Plus Jakarta Sans"/>
                        </a:rPr>
                        <a:t>Classificação Econômica</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7F2EC"/>
                    </a:solidFill>
                  </a:tcPr>
                </a:tc>
                <a:extLst>
                  <a:ext uri="{0D108BD9-81ED-4DB2-BD59-A6C34878D82A}">
                    <a16:rowId xmlns:a16="http://schemas.microsoft.com/office/drawing/2014/main" val="3426293153"/>
                  </a:ext>
                </a:extLst>
              </a:tr>
              <a:tr h="809866">
                <a:tc>
                  <a:txBody>
                    <a:bodyPr/>
                    <a:lstStyle/>
                    <a:p>
                      <a:pPr rtl="0" fontAlgn="ctr">
                        <a:spcBef>
                          <a:spcPts val="0"/>
                        </a:spcBef>
                        <a:spcAft>
                          <a:spcPts val="0"/>
                        </a:spcAft>
                      </a:pPr>
                      <a:r>
                        <a:rPr lang="pt-BR" sz="1050" b="1" i="0" u="none" strike="noStrike">
                          <a:solidFill>
                            <a:srgbClr val="2F3E46"/>
                          </a:solidFill>
                          <a:effectLst/>
                          <a:latin typeface="Plus Jakarta Sans"/>
                        </a:rPr>
                        <a:t>2204.10.90</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Outros Espumantes</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+17,37%</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Anticíclico / Substituição</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343841879"/>
                  </a:ext>
                </a:extLst>
              </a:tr>
              <a:tr h="809866">
                <a:tc>
                  <a:txBody>
                    <a:bodyPr/>
                    <a:lstStyle/>
                    <a:p>
                      <a:pPr rtl="0" fontAlgn="ctr">
                        <a:spcBef>
                          <a:spcPts val="0"/>
                        </a:spcBef>
                        <a:spcAft>
                          <a:spcPts val="0"/>
                        </a:spcAft>
                      </a:pPr>
                      <a:r>
                        <a:rPr lang="pt-BR" sz="1050" b="1" i="0" u="none" strike="noStrike">
                          <a:solidFill>
                            <a:srgbClr val="2F3E46"/>
                          </a:solidFill>
                          <a:effectLst/>
                          <a:latin typeface="Plus Jakarta Sans"/>
                        </a:rPr>
                        <a:t>2204.22.11</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Vinhos de 2L a 10L</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-0,40%</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Consumo Altamente Inelástico</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extLst>
                  <a:ext uri="{0D108BD9-81ED-4DB2-BD59-A6C34878D82A}">
                    <a16:rowId xmlns:a16="http://schemas.microsoft.com/office/drawing/2014/main" val="569782752"/>
                  </a:ext>
                </a:extLst>
              </a:tr>
              <a:tr h="809866">
                <a:tc>
                  <a:txBody>
                    <a:bodyPr/>
                    <a:lstStyle/>
                    <a:p>
                      <a:pPr rtl="0" fontAlgn="ctr">
                        <a:spcBef>
                          <a:spcPts val="0"/>
                        </a:spcBef>
                        <a:spcAft>
                          <a:spcPts val="0"/>
                        </a:spcAft>
                      </a:pPr>
                      <a:r>
                        <a:rPr lang="pt-BR" sz="1050" b="1" i="0" u="none" strike="noStrike">
                          <a:solidFill>
                            <a:srgbClr val="2F3E46"/>
                          </a:solidFill>
                          <a:effectLst/>
                          <a:latin typeface="Plus Jakarta Sans"/>
                        </a:rPr>
                        <a:t>2204.21.00</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Vinhos em emb. &lt; 2L</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-7,28%</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Vulnerabilidade Moderada</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57939722"/>
                  </a:ext>
                </a:extLst>
              </a:tr>
              <a:tr h="809866">
                <a:tc>
                  <a:txBody>
                    <a:bodyPr/>
                    <a:lstStyle/>
                    <a:p>
                      <a:pPr rtl="0" fontAlgn="ctr">
                        <a:spcBef>
                          <a:spcPts val="0"/>
                        </a:spcBef>
                        <a:spcAft>
                          <a:spcPts val="0"/>
                        </a:spcAft>
                      </a:pPr>
                      <a:r>
                        <a:rPr lang="pt-BR" sz="1050" b="1" i="0" u="none" strike="noStrike">
                          <a:solidFill>
                            <a:srgbClr val="2F3E46"/>
                          </a:solidFill>
                          <a:effectLst/>
                          <a:latin typeface="Plus Jakarta Sans"/>
                        </a:rPr>
                        <a:t>2204.29.10</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Vinhos a Granel &gt; 10L</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-8,01%</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Sensível à Demanda Industrial</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8ECF4"/>
                    </a:solidFill>
                  </a:tcPr>
                </a:tc>
                <a:extLst>
                  <a:ext uri="{0D108BD9-81ED-4DB2-BD59-A6C34878D82A}">
                    <a16:rowId xmlns:a16="http://schemas.microsoft.com/office/drawing/2014/main" val="620953478"/>
                  </a:ext>
                </a:extLst>
              </a:tr>
              <a:tr h="809866">
                <a:tc>
                  <a:txBody>
                    <a:bodyPr/>
                    <a:lstStyle/>
                    <a:p>
                      <a:pPr rtl="0" fontAlgn="ctr">
                        <a:spcBef>
                          <a:spcPts val="0"/>
                        </a:spcBef>
                        <a:spcAft>
                          <a:spcPts val="0"/>
                        </a:spcAft>
                      </a:pPr>
                      <a:r>
                        <a:rPr lang="pt-BR" sz="1050" b="1" i="0" u="none" strike="noStrike">
                          <a:solidFill>
                            <a:srgbClr val="2F3E46"/>
                          </a:solidFill>
                          <a:effectLst/>
                          <a:latin typeface="Plus Jakarta Sans"/>
                        </a:rPr>
                        <a:t>2204.10.10</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Espumante Moscatel</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a:solidFill>
                            <a:srgbClr val="2F3E46"/>
                          </a:solidFill>
                          <a:effectLst/>
                          <a:latin typeface="Plus Jakarta Sans"/>
                        </a:rPr>
                        <a:t>-9,87%</a:t>
                      </a:r>
                      <a:endParaRPr lang="pt-BR">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tc>
                  <a:txBody>
                    <a:bodyPr/>
                    <a:lstStyle/>
                    <a:p>
                      <a:pPr rtl="0" fontAlgn="ctr">
                        <a:spcBef>
                          <a:spcPts val="0"/>
                        </a:spcBef>
                        <a:spcAft>
                          <a:spcPts val="0"/>
                        </a:spcAft>
                      </a:pPr>
                      <a:r>
                        <a:rPr lang="pt-BR" sz="1050" b="0" i="0" u="none" strike="noStrike" dirty="0">
                          <a:solidFill>
                            <a:srgbClr val="2F3E46"/>
                          </a:solidFill>
                          <a:effectLst/>
                          <a:latin typeface="Plus Jakarta Sans"/>
                        </a:rPr>
                        <a:t>Alta Vulnerabilidade Interna</a:t>
                      </a:r>
                      <a:endParaRPr lang="pt-BR" dirty="0">
                        <a:effectLs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722024891"/>
                  </a:ext>
                </a:extLst>
              </a:tr>
            </a:tbl>
          </a:graphicData>
        </a:graphic>
      </p:graphicFrame>
      <p:sp>
        <p:nvSpPr>
          <p:cNvPr id="26" name="Rectangle 1">
            <a:extLst>
              <a:ext uri="{FF2B5EF4-FFF2-40B4-BE49-F238E27FC236}">
                <a16:creationId xmlns:a16="http://schemas.microsoft.com/office/drawing/2014/main" id="{3EDBC316-A217-4022-A497-7C8F6F444F72}"/>
              </a:ext>
            </a:extLst>
          </p:cNvPr>
          <p:cNvSpPr>
            <a:spLocks noChangeArrowheads="1"/>
          </p:cNvSpPr>
          <p:nvPr/>
        </p:nvSpPr>
        <p:spPr bwMode="auto">
          <a:xfrm>
            <a:off x="365443" y="1417478"/>
            <a:ext cx="13160374" cy="759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pt-BR"/>
          </a:p>
        </p:txBody>
      </p:sp>
      <p:sp>
        <p:nvSpPr>
          <p:cNvPr id="32" name="CaixaDeTexto 31">
            <a:extLst>
              <a:ext uri="{FF2B5EF4-FFF2-40B4-BE49-F238E27FC236}">
                <a16:creationId xmlns:a16="http://schemas.microsoft.com/office/drawing/2014/main" id="{3C7F9877-8BFF-4247-A687-D246AB360CC7}"/>
              </a:ext>
            </a:extLst>
          </p:cNvPr>
          <p:cNvSpPr txBox="1"/>
          <p:nvPr/>
        </p:nvSpPr>
        <p:spPr>
          <a:xfrm>
            <a:off x="5599590" y="3609856"/>
            <a:ext cx="5991539" cy="1492716"/>
          </a:xfrm>
          <a:prstGeom prst="rect">
            <a:avLst/>
          </a:prstGeom>
          <a:noFill/>
        </p:spPr>
        <p:txBody>
          <a:bodyPr wrap="square">
            <a:spAutoFit/>
          </a:bodyPr>
          <a:lstStyle/>
          <a:p>
            <a:pPr rtl="0">
              <a:spcBef>
                <a:spcPts val="0"/>
              </a:spcBef>
              <a:spcAft>
                <a:spcPts val="0"/>
              </a:spcAft>
            </a:pPr>
            <a:r>
              <a:rPr lang="pt-BR" sz="1100" b="0" i="0" u="none" strike="noStrike" dirty="0">
                <a:solidFill>
                  <a:srgbClr val="2F3E46"/>
                </a:solidFill>
                <a:effectLst/>
                <a:latin typeface="+mj-lt"/>
              </a:rPr>
              <a:t>A simulação de estresse simulou o acirramento da concorrência de vinhos finos europeus com a abertura do Acordo Mercosul-EU</a:t>
            </a:r>
          </a:p>
          <a:p>
            <a:pPr rtl="0">
              <a:spcBef>
                <a:spcPts val="0"/>
              </a:spcBef>
              <a:spcAft>
                <a:spcPts val="0"/>
              </a:spcAft>
            </a:pPr>
            <a:r>
              <a:rPr lang="pt-BR" sz="1100" b="0" i="0" u="none" strike="noStrike" dirty="0">
                <a:solidFill>
                  <a:srgbClr val="2F3E46"/>
                </a:solidFill>
                <a:effectLst/>
                <a:latin typeface="+mj-lt"/>
              </a:rPr>
              <a:t>O modelo provou que os espumantes finos (NCM 2204.10.90) operam de forma anticíclica: diante de retrações regionais, a indústria escoa com sucesso para outros estados e canais externos, elevando a receita e atuando como proteção financeira.</a:t>
            </a:r>
            <a:endParaRPr lang="pt-BR" sz="1100" b="0" dirty="0">
              <a:effectLst/>
              <a:latin typeface="+mj-lt"/>
            </a:endParaRPr>
          </a:p>
          <a:p>
            <a:br>
              <a:rPr lang="pt-BR" dirty="0"/>
            </a:br>
            <a:endParaRPr lang="pt-BR" dirty="0"/>
          </a:p>
        </p:txBody>
      </p:sp>
      <p:sp>
        <p:nvSpPr>
          <p:cNvPr id="34" name="CaixaDeTexto 33">
            <a:extLst>
              <a:ext uri="{FF2B5EF4-FFF2-40B4-BE49-F238E27FC236}">
                <a16:creationId xmlns:a16="http://schemas.microsoft.com/office/drawing/2014/main" id="{955FC169-3E51-4235-AC6F-A48DF7A70AD7}"/>
              </a:ext>
            </a:extLst>
          </p:cNvPr>
          <p:cNvSpPr txBox="1"/>
          <p:nvPr/>
        </p:nvSpPr>
        <p:spPr>
          <a:xfrm>
            <a:off x="5599590" y="3240524"/>
            <a:ext cx="6764784" cy="923330"/>
          </a:xfrm>
          <a:prstGeom prst="rect">
            <a:avLst/>
          </a:prstGeom>
          <a:noFill/>
        </p:spPr>
        <p:txBody>
          <a:bodyPr wrap="square">
            <a:spAutoFit/>
          </a:bodyPr>
          <a:lstStyle/>
          <a:p>
            <a:pPr rtl="0">
              <a:spcBef>
                <a:spcPts val="0"/>
              </a:spcBef>
              <a:spcAft>
                <a:spcPts val="0"/>
              </a:spcAft>
            </a:pPr>
            <a:r>
              <a:rPr lang="pt-BR" sz="1800" b="1" i="0" u="none" strike="noStrike" dirty="0">
                <a:solidFill>
                  <a:srgbClr val="1D2A44"/>
                </a:solidFill>
                <a:effectLst/>
                <a:latin typeface="+mj-lt"/>
              </a:rPr>
              <a:t>Dinâmica do Choque (Vendas RS -15%)</a:t>
            </a:r>
            <a:endParaRPr lang="pt-BR" b="1" dirty="0">
              <a:effectLst/>
              <a:latin typeface="+mj-lt"/>
            </a:endParaRPr>
          </a:p>
          <a:p>
            <a:br>
              <a:rPr lang="pt-BR" dirty="0"/>
            </a:br>
            <a:endParaRPr lang="pt-BR" dirty="0"/>
          </a:p>
        </p:txBody>
      </p:sp>
    </p:spTree>
    <p:extLst>
      <p:ext uri="{BB962C8B-B14F-4D97-AF65-F5344CB8AC3E}">
        <p14:creationId xmlns:p14="http://schemas.microsoft.com/office/powerpoint/2010/main" val="3755771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9B2E52"/>
          </a:solidFill>
          <a:ln w="12700">
            <a:solidFill>
              <a:srgbClr val="9B2E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05 · Impactos Exógenos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Choques externos sobre a cadeia vitivinícola</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65760" y="1188720"/>
            <a:ext cx="3657600" cy="53035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65760" y="1188720"/>
            <a:ext cx="3657600" cy="118872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1188720" y="1298448"/>
            <a:ext cx="26517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Enchentes 2024</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188720" y="1719072"/>
            <a:ext cx="2651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Maior desastre climático do 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48640" y="251460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Safra RS caiu 24%: 904.794 → 686.651 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48640" y="333756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Aurora registrou queda de ~28% na produção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48640" y="416052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Encharcamento de solos, destruição de parreirais e deslizamentos na Serra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48640" y="498348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Exportações se mantiveram via estoques; recuperação em 2025 (11,6 Mi)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206240" y="1188720"/>
            <a:ext cx="3657600" cy="53035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206240" y="1188720"/>
            <a:ext cx="3657600" cy="1188720"/>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5029200" y="1298448"/>
            <a:ext cx="26517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El Niño e Míldio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5029200" y="1719072"/>
            <a:ext cx="2651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Clima e doenças nos vinhedos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389120" y="251460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El Niño aumenta chuvas na primavera e no verão na Serra Gaúcha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389120" y="333756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Chuva excessiva favorece o míldio, principal doença da videira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389120" y="416052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O míldio derruba folhas, reduz fotossíntese e impede acúmulo de açúcar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389120" y="498348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Resultado: menor quantidade e qualidade das uvas colhidas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8046720" y="1188720"/>
            <a:ext cx="3657600" cy="53035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8046720" y="1188720"/>
            <a:ext cx="3657600" cy="1188720"/>
          </a:xfrm>
          <a:prstGeom prst="rect">
            <a:avLst/>
          </a:prstGeom>
          <a:solidFill>
            <a:srgbClr val="3D6B45"/>
          </a:solidFill>
          <a:ln w="12700">
            <a:solidFill>
              <a:srgbClr val="3D6B4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8869680" y="1298448"/>
            <a:ext cx="26517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Outros Riscos no Campo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8869680" y="1719072"/>
            <a:ext cx="26517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Herbicida, urbanização e impostos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229600" y="251460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Herbicida 2,4-D (soja) levado pelo vento deforma folhas e derruba frutos nos vinhedos da Campanha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8229600" y="333756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Urbanização e turismo ocupam áreas antes usadas para cultivo de uvas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8229600" y="416052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Alta carga tributária representa quase metade do preço final da garrafa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229600" y="4983480"/>
            <a:ext cx="329184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Impostos elevados reduzem competitividade frente ao Chile e Argentina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1A1A2E"/>
          </a:solidFill>
          <a:ln w="12700">
            <a:solidFill>
              <a:srgbClr val="1A1A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06 · Arrecadação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ICMS do Vinho — Impacto Fiscal no RS (2015–2025)</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65760" y="1143000"/>
            <a:ext cx="2560320" cy="1234440"/>
          </a:xfrm>
          <a:prstGeom prst="rect">
            <a:avLst/>
          </a:prstGeom>
          <a:solidFill>
            <a:srgbClr val="1A1A2E"/>
          </a:solidFill>
          <a:ln w="12700">
            <a:solidFill>
              <a:srgbClr val="1A1A2E"/>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36576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R$ 277 Mi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6576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ICMS Vinho 2025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576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+76% vs 2015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00400" y="1143000"/>
            <a:ext cx="2560320" cy="1234440"/>
          </a:xfrm>
          <a:prstGeom prst="rect">
            <a:avLst/>
          </a:prstGeom>
          <a:solidFill>
            <a:srgbClr val="1A1A2E"/>
          </a:solidFill>
          <a:ln w="12700">
            <a:solidFill>
              <a:srgbClr val="1A1A2E"/>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0,52%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20040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Share ICMS 2025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20040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do total arrecadado 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1143000"/>
            <a:ext cx="2560320" cy="1234440"/>
          </a:xfrm>
          <a:prstGeom prst="rect">
            <a:avLst/>
          </a:prstGeom>
          <a:solidFill>
            <a:srgbClr val="1A1A2E"/>
          </a:solidFill>
          <a:ln w="12700">
            <a:solidFill>
              <a:srgbClr val="1A1A2E"/>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03504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R$ 202 Mi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03504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Pico anterior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2018 — queda 2020 (COVID)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869680" y="1143000"/>
            <a:ext cx="2560320" cy="1234440"/>
          </a:xfrm>
          <a:prstGeom prst="rect">
            <a:avLst/>
          </a:prstGeom>
          <a:solidFill>
            <a:srgbClr val="1A1A2E"/>
          </a:solidFill>
          <a:ln w="12700">
            <a:solidFill>
              <a:srgbClr val="1A1A2E"/>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869680" y="1216152"/>
            <a:ext cx="25603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0,43%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69680" y="1764792"/>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Mínimo 2020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69680" y="2057400"/>
            <a:ext cx="2560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Impacto pandemia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1" name="Chart 0"/>
          <p:cNvGraphicFramePr/>
          <p:nvPr/>
        </p:nvGraphicFramePr>
        <p:xfrm>
          <a:off x="365760" y="2560320"/>
          <a:ext cx="576072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1"/>
          <p:cNvGraphicFramePr/>
          <p:nvPr/>
        </p:nvGraphicFramePr>
        <p:xfrm>
          <a:off x="6309360" y="2560320"/>
          <a:ext cx="5486400" cy="35661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0E6"/>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14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Previsões · Posicionamento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02920"/>
            <a:ext cx="112471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Desafios, Oportunidades e o Acordo Mercosul–UE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65760" y="1234440"/>
            <a:ext cx="53949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65760" y="1234440"/>
            <a:ext cx="91440" cy="1600200"/>
          </a:xfrm>
          <a:prstGeom prst="rect">
            <a:avLst/>
          </a:prstGeom>
          <a:solidFill>
            <a:srgbClr val="6D1E3A"/>
          </a:solidFill>
          <a:ln w="12700">
            <a:solidFill>
              <a:srgbClr val="6D1E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66928" y="1344168"/>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6D1E3A"/>
                </a:solidFill>
                <a:effectLst/>
                <a:uLnTx/>
                <a:uFillTx/>
                <a:latin typeface="Georgia" pitchFamily="34" charset="0"/>
                <a:ea typeface="Georgia" pitchFamily="34" charset="-122"/>
                <a:cs typeface="Georgia" pitchFamily="34" charset="-120"/>
              </a:rPr>
              <a:t>Assimetria de preço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66928" y="1691640"/>
            <a:ext cx="50292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RS exporta a ~U$1,84/L enquanto importa a U$3,37/L médio. O produto gaúcho ainda não captura valor premium no mercado externo — há espaço claro para subir de posicionamento.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035040" y="1234440"/>
            <a:ext cx="53949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6035040" y="1234440"/>
            <a:ext cx="91440" cy="1600200"/>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236208" y="1344168"/>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Ameaça Chile e Argentina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236208" y="1691640"/>
            <a:ext cx="50292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Chile cresceu 15% nas importações (2022→2025) e compete diretamente no segmento popular. Com o Acordo Mercosul-UE, os vinhos europeus abaixo de U$8/L também reduzirão tarifas gradualmente, chegando a zero em 12 anos.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65760" y="3017520"/>
            <a:ext cx="53949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365760" y="3017520"/>
            <a:ext cx="91440" cy="1600200"/>
          </a:xfrm>
          <a:prstGeom prst="rect">
            <a:avLst/>
          </a:prstGeom>
          <a:solidFill>
            <a:srgbClr val="9B2E52"/>
          </a:solidFill>
          <a:ln w="12700">
            <a:solidFill>
              <a:srgbClr val="9B2E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66928" y="3127248"/>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9B2E52"/>
                </a:solidFill>
                <a:effectLst/>
                <a:uLnTx/>
                <a:uFillTx/>
                <a:latin typeface="Georgia" pitchFamily="34" charset="0"/>
                <a:ea typeface="Georgia" pitchFamily="34" charset="-122"/>
                <a:cs typeface="Georgia" pitchFamily="34" charset="-120"/>
              </a:rPr>
              <a:t>Acordo Mercosul–UE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66928" y="3474720"/>
            <a:ext cx="50292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Vinhos europeus acima de U$8/L entrarão sem imposto imediatamente. Produtores do RS apontam disputa desigual: os europeus recebem subsídios bilionários que reduzem seus custos de produção.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035040" y="3017520"/>
            <a:ext cx="53949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6035040" y="3017520"/>
            <a:ext cx="91440" cy="1600200"/>
          </a:xfrm>
          <a:prstGeom prst="rect">
            <a:avLst/>
          </a:prstGeom>
          <a:solidFill>
            <a:srgbClr val="3D6B45"/>
          </a:solidFill>
          <a:ln w="12700">
            <a:solidFill>
              <a:srgbClr val="3D6B4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236208" y="3127248"/>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D6B45"/>
                </a:solidFill>
                <a:effectLst/>
                <a:uLnTx/>
                <a:uFillTx/>
                <a:latin typeface="Georgia" pitchFamily="34" charset="0"/>
                <a:ea typeface="Georgia" pitchFamily="34" charset="-122"/>
                <a:cs typeface="Georgia" pitchFamily="34" charset="-120"/>
              </a:rPr>
              <a:t>Espumantes — ponto forte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6236208" y="3474720"/>
            <a:ext cx="50292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Os espumantes gaúchos são o segmento mais preparado para a concorrência: qualidade reconhecida internacionalmente, premiações e selos de origem (Vale dos Vinhedos, Pinto Bandeira) valorizam o produto.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65760" y="4800600"/>
            <a:ext cx="53949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365760" y="4800600"/>
            <a:ext cx="91440" cy="1600200"/>
          </a:xfrm>
          <a:prstGeom prst="rect">
            <a:avLst/>
          </a:prstGeom>
          <a:solidFill>
            <a:srgbClr val="1A1A2E"/>
          </a:solidFill>
          <a:ln w="12700">
            <a:solidFill>
              <a:srgbClr val="1A1A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566928" y="4910328"/>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A1A2E"/>
                </a:solidFill>
                <a:effectLst/>
                <a:uLnTx/>
                <a:uFillTx/>
                <a:latin typeface="Georgia" pitchFamily="34" charset="0"/>
                <a:ea typeface="Georgia" pitchFamily="34" charset="-122"/>
                <a:cs typeface="Georgia" pitchFamily="34" charset="-120"/>
              </a:rPr>
              <a:t>Argumento fiscal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66928" y="5257800"/>
            <a:ext cx="50292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ICMS do vinho cresceu 76% desde 2015 (R$156Mi → R$277Mi). Forte base para políticas de apoio setorial — o Estado tem interesse fiscal direto na saúde do setor.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035040" y="4800600"/>
            <a:ext cx="53949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035040" y="4800600"/>
            <a:ext cx="91440" cy="1600200"/>
          </a:xfrm>
          <a:prstGeom prst="rect">
            <a:avLst/>
          </a:prstGeom>
          <a:solidFill>
            <a:srgbClr val="C9768A"/>
          </a:solidFill>
          <a:ln w="12700">
            <a:solidFill>
              <a:srgbClr val="C976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6236208" y="4910328"/>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C9768A"/>
                </a:solidFill>
                <a:effectLst/>
                <a:uLnTx/>
                <a:uFillTx/>
                <a:latin typeface="Georgia" pitchFamily="34" charset="0"/>
                <a:ea typeface="Georgia" pitchFamily="34" charset="-122"/>
                <a:cs typeface="Georgia" pitchFamily="34" charset="-120"/>
              </a:rPr>
              <a:t>Risco de concentração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236208" y="5257800"/>
            <a:ext cx="50292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A1A2E"/>
                </a:solidFill>
                <a:effectLst/>
                <a:uLnTx/>
                <a:uFillTx/>
                <a:latin typeface="Calibri" pitchFamily="34" charset="0"/>
                <a:ea typeface="Calibri" pitchFamily="34" charset="-122"/>
                <a:cs typeface="Calibri" pitchFamily="34" charset="-120"/>
              </a:rPr>
              <a:t>RS responde por ~85% das exportações nacionais. Choques locais como enchentes ou míldio têm impacto nacional — estratégia de diversificação produtiva e regional é necessária.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D1E3A"/>
        </a:solidFill>
        <a:effectLst/>
      </p:bgPr>
    </p:bg>
    <p:spTree>
      <p:nvGrpSpPr>
        <p:cNvPr id="1" name=""/>
        <p:cNvGrpSpPr/>
        <p:nvPr/>
      </p:nvGrpSpPr>
      <p:grpSpPr>
        <a:xfrm>
          <a:off x="0" y="0"/>
          <a:ext cx="0" cy="0"/>
          <a:chOff x="0" y="0"/>
          <a:chExt cx="0" cy="0"/>
        </a:xfrm>
      </p:grpSpPr>
      <p:sp>
        <p:nvSpPr>
          <p:cNvPr id="2" name="Shape 0"/>
          <p:cNvSpPr/>
          <p:nvPr/>
        </p:nvSpPr>
        <p:spPr>
          <a:xfrm>
            <a:off x="8961120" y="0"/>
            <a:ext cx="3200400" cy="6858000"/>
          </a:xfrm>
          <a:prstGeom prst="rect">
            <a:avLst/>
          </a:prstGeom>
          <a:solidFill>
            <a:srgbClr val="9B2E52"/>
          </a:solidFill>
          <a:ln w="12700">
            <a:solidFill>
              <a:srgbClr val="9B2E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058400" y="0"/>
            <a:ext cx="2103120" cy="6858000"/>
          </a:xfrm>
          <a:prstGeom prst="rect">
            <a:avLst/>
          </a:prstGeom>
          <a:solidFill>
            <a:srgbClr val="C8963C">
              <a:alpha val="25000"/>
            </a:srgbClr>
          </a:solidFill>
          <a:ln w="12700">
            <a:solidFill>
              <a:srgbClr val="C8963C">
                <a:alpha val="2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48640" y="365760"/>
            <a:ext cx="8229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C8963C"/>
                </a:solidFill>
                <a:effectLst/>
                <a:uLnTx/>
                <a:uFillTx/>
                <a:latin typeface="Georgia" pitchFamily="34" charset="0"/>
                <a:ea typeface="Georgia" pitchFamily="34" charset="-122"/>
                <a:cs typeface="Georgia" pitchFamily="34" charset="-120"/>
              </a:rPr>
              <a:t>Conclusões</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051560"/>
            <a:ext cx="8229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9768A"/>
                </a:solidFill>
                <a:effectLst/>
                <a:uLnTx/>
                <a:uFillTx/>
                <a:latin typeface="Georgia" pitchFamily="34" charset="0"/>
                <a:ea typeface="Georgia" pitchFamily="34" charset="-122"/>
                <a:cs typeface="Georgia" pitchFamily="34" charset="-120"/>
              </a:rPr>
              <a:t>Setor Vitivinícola do RS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1645920"/>
            <a:ext cx="4572000" cy="36576"/>
          </a:xfrm>
          <a:prstGeom prst="rect">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48640" y="1920240"/>
            <a:ext cx="347472" cy="347472"/>
          </a:xfrm>
          <a:prstGeom prst="ellipse">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48640" y="192024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anose="020F0502020204030204"/>
                <a:ea typeface="+mn-ea"/>
                <a:cs typeface="+mn-cs"/>
              </a:rPr>
              <a:t>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051560" y="1892808"/>
            <a:ext cx="7680960" cy="7498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O RS é o principal produtor e exportador de vinho do Brasil, com 81% da uva concentrada na Serra Gaúcha.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48640" y="2761488"/>
            <a:ext cx="347472" cy="347472"/>
          </a:xfrm>
          <a:prstGeom prst="ellipse">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48640" y="2761488"/>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anose="020F0502020204030204"/>
                <a:ea typeface="+mn-ea"/>
                <a:cs typeface="+mn-cs"/>
              </a:rPr>
              <a:t>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051560" y="2734056"/>
            <a:ext cx="7680960" cy="7498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As exportações atingiram pico em 2022 (U$12,5Mi), caíram com as enchentes de 2024 e recuperam em 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48640" y="3602736"/>
            <a:ext cx="347472" cy="347472"/>
          </a:xfrm>
          <a:prstGeom prst="ellipse">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48640" y="3602736"/>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anose="020F0502020204030204"/>
                <a:ea typeface="+mn-ea"/>
                <a:cs typeface="+mn-cs"/>
              </a:rPr>
              <a:t>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051560" y="3575304"/>
            <a:ext cx="7680960" cy="7498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O setor enfrenta concorrência crescente de importados — especialmente Chile e Portugal — que avançam em volume e preço.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 y="4443984"/>
            <a:ext cx="347472" cy="347472"/>
          </a:xfrm>
          <a:prstGeom prst="ellipse">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48640" y="444398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anose="020F0502020204030204"/>
                <a:ea typeface="+mn-ea"/>
                <a:cs typeface="+mn-cs"/>
              </a:rPr>
              <a:t>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051560" y="4416552"/>
            <a:ext cx="7680960" cy="7498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A arrecadação de ICMS do vinho cresceu 76% em 10 anos, reforçando a importância fiscal do setor para o estado.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48640" y="5285232"/>
            <a:ext cx="347472" cy="347472"/>
          </a:xfrm>
          <a:prstGeom prst="ellipse">
            <a:avLst/>
          </a:prstGeom>
          <a:solidFill>
            <a:srgbClr val="C8963C"/>
          </a:solidFill>
          <a:ln w="12700">
            <a:solidFill>
              <a:srgbClr val="C896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548640" y="5285232"/>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D1E3A"/>
                </a:solidFill>
                <a:effectLst/>
                <a:uLnTx/>
                <a:uFillTx/>
                <a:latin typeface="Calibri" panose="020F0502020204030204"/>
                <a:ea typeface="+mn-ea"/>
                <a:cs typeface="+mn-cs"/>
              </a:rPr>
              <a:t>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051560" y="5257800"/>
            <a:ext cx="7680960" cy="7498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7F0E6"/>
                </a:solidFill>
                <a:effectLst/>
                <a:uLnTx/>
                <a:uFillTx/>
                <a:latin typeface="Calibri" pitchFamily="34" charset="0"/>
                <a:ea typeface="Calibri" pitchFamily="34" charset="-122"/>
                <a:cs typeface="Calibri" pitchFamily="34" charset="-120"/>
              </a:rPr>
              <a:t>Há espaço claro para valorização via indicações geográficas e inserção em mercados premium europeus.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48640" y="6400800"/>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9768A"/>
                </a:solidFill>
                <a:effectLst/>
                <a:uLnTx/>
                <a:uFillTx/>
                <a:latin typeface="Calibri" pitchFamily="34" charset="0"/>
                <a:ea typeface="Calibri" pitchFamily="34" charset="-122"/>
                <a:cs typeface="Calibri" pitchFamily="34" charset="-120"/>
              </a:rPr>
              <a:t>UNISINOS — Análise Econômica Setorial · 2025  |  Dados: IBGE · Comex Stat · SEFAZ-RS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2214</TotalTime>
  <Words>1486</Words>
  <Application>Microsoft Office PowerPoint</Application>
  <PresentationFormat>Widescreen</PresentationFormat>
  <Paragraphs>279</Paragraphs>
  <Slides>16</Slides>
  <Notes>13</Notes>
  <HiddenSlides>3</HiddenSlides>
  <MMClips>0</MMClips>
  <ScaleCrop>false</ScaleCrop>
  <HeadingPairs>
    <vt:vector size="6" baseType="variant">
      <vt:variant>
        <vt:lpstr>Fontes usadas</vt:lpstr>
      </vt:variant>
      <vt:variant>
        <vt:i4>6</vt:i4>
      </vt:variant>
      <vt:variant>
        <vt:lpstr>Tema</vt:lpstr>
      </vt:variant>
      <vt:variant>
        <vt:i4>2</vt:i4>
      </vt:variant>
      <vt:variant>
        <vt:lpstr>Títulos de slides</vt:lpstr>
      </vt:variant>
      <vt:variant>
        <vt:i4>16</vt:i4>
      </vt:variant>
    </vt:vector>
  </HeadingPairs>
  <TitlesOfParts>
    <vt:vector size="24" baseType="lpstr">
      <vt:lpstr>Aptos</vt:lpstr>
      <vt:lpstr>Aptos Display</vt:lpstr>
      <vt:lpstr>Arial</vt:lpstr>
      <vt:lpstr>Calibri</vt:lpstr>
      <vt:lpstr>Georgia</vt:lpstr>
      <vt:lpstr>Plus Jakarta Sans</vt:lpstr>
      <vt:lpstr>Tema do Office</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Enzo Carbonell Arraes Degrazia - Bateleur</dc:creator>
  <cp:lastModifiedBy>valentina rodrigues</cp:lastModifiedBy>
  <cp:revision>9</cp:revision>
  <dcterms:created xsi:type="dcterms:W3CDTF">2026-05-31T15:52:41Z</dcterms:created>
  <dcterms:modified xsi:type="dcterms:W3CDTF">2026-06-25T19:27:32Z</dcterms:modified>
</cp:coreProperties>
</file>